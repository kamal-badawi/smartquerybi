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5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4" r:id="rId6"/>
    <p:sldId id="261" r:id="rId7"/>
    <p:sldId id="259" r:id="rId8"/>
    <p:sldId id="263" r:id="rId9"/>
    <p:sldId id="272" r:id="rId10"/>
    <p:sldId id="273" r:id="rId11"/>
    <p:sldId id="274" r:id="rId12"/>
    <p:sldId id="269" r:id="rId13"/>
    <p:sldId id="267" r:id="rId14"/>
    <p:sldId id="268" r:id="rId15"/>
    <p:sldId id="271" r:id="rId16"/>
  </p:sldIdLst>
  <p:sldSz cx="18288000" cy="10287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Rajdhani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D29F"/>
    <a:srgbClr val="CCFFA4"/>
    <a:srgbClr val="F4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0852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028700" y="28721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title" idx="2"/>
          </p:nvPr>
        </p:nvSpPr>
        <p:spPr>
          <a:xfrm>
            <a:off x="1028700" y="61360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0"/>
              <a:buFont typeface="Rajdhani"/>
              <a:buNone/>
              <a:defRPr sz="10500" i="0" u="none" strike="noStrike" cap="non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9411612" y="8303699"/>
            <a:ext cx="8439002" cy="1011916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28700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3"/>
          </p:nvPr>
        </p:nvSpPr>
        <p:spPr>
          <a:xfrm>
            <a:off x="12880325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257100" y="413500"/>
            <a:ext cx="8615100" cy="31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50"/>
              <a:buNone/>
              <a:defRPr sz="108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12678650" y="4394725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2"/>
          </p:nvPr>
        </p:nvSpPr>
        <p:spPr>
          <a:xfrm>
            <a:off x="12678650" y="1653550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3"/>
          </p:nvPr>
        </p:nvSpPr>
        <p:spPr>
          <a:xfrm>
            <a:off x="12678650" y="7342653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652192" y="3059276"/>
            <a:ext cx="5588163" cy="5653649"/>
            <a:chOff x="0" y="-9525"/>
            <a:chExt cx="812800" cy="822325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6"/>
          <p:cNvGrpSpPr/>
          <p:nvPr/>
        </p:nvGrpSpPr>
        <p:grpSpPr>
          <a:xfrm>
            <a:off x="745653" y="2857348"/>
            <a:ext cx="5588163" cy="5653649"/>
            <a:chOff x="0" y="-9525"/>
            <a:chExt cx="812800" cy="822325"/>
          </a:xfrm>
        </p:grpSpPr>
        <p:sp>
          <p:nvSpPr>
            <p:cNvPr id="48" name="Google Shape;48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11943240" y="3059276"/>
            <a:ext cx="5588163" cy="5653649"/>
            <a:chOff x="0" y="-9525"/>
            <a:chExt cx="812800" cy="822325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12047642" y="2857348"/>
            <a:ext cx="5588163" cy="5653649"/>
            <a:chOff x="0" y="-9525"/>
            <a:chExt cx="812800" cy="822325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6434" y="3770996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188" y="3429000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506" y="2857354"/>
            <a:ext cx="7911506" cy="64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198152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187382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3"/>
          </p:nvPr>
        </p:nvSpPr>
        <p:spPr>
          <a:xfrm>
            <a:off x="1337697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1326927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28700" y="336428"/>
            <a:ext cx="172668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894142" y="2591171"/>
            <a:ext cx="6719013" cy="6797752"/>
            <a:chOff x="0" y="-9525"/>
            <a:chExt cx="812800" cy="822325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7512925" y="4256078"/>
            <a:ext cx="3454396" cy="3494877"/>
            <a:chOff x="0" y="-9525"/>
            <a:chExt cx="812800" cy="822325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10449623" y="2705149"/>
            <a:ext cx="2076752" cy="2101089"/>
            <a:chOff x="0" y="-9525"/>
            <a:chExt cx="812800" cy="822325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5945052" y="7209720"/>
            <a:ext cx="2076752" cy="2101089"/>
            <a:chOff x="0" y="-9525"/>
            <a:chExt cx="812800" cy="822325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2700000">
            <a:off x="10412666" y="7178165"/>
            <a:ext cx="2076752" cy="2101089"/>
            <a:chOff x="0" y="-9525"/>
            <a:chExt cx="812800" cy="822325"/>
          </a:xfrm>
        </p:grpSpPr>
        <p:sp>
          <p:nvSpPr>
            <p:cNvPr id="125" name="Google Shape;12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 rot="2700000">
            <a:off x="5820521" y="2583214"/>
            <a:ext cx="2076752" cy="2101089"/>
            <a:chOff x="0" y="-9525"/>
            <a:chExt cx="812800" cy="822325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8"/>
          <p:cNvSpPr/>
          <p:nvPr/>
        </p:nvSpPr>
        <p:spPr>
          <a:xfrm>
            <a:off x="10948748" y="3133865"/>
            <a:ext cx="1064777" cy="1155083"/>
          </a:xfrm>
          <a:custGeom>
            <a:avLst/>
            <a:gdLst/>
            <a:ahLst/>
            <a:cxnLst/>
            <a:rect l="l" t="t" r="r" b="b"/>
            <a:pathLst>
              <a:path w="1064777" h="1155083" extrusionOk="0">
                <a:moveTo>
                  <a:pt x="0" y="0"/>
                </a:moveTo>
                <a:lnTo>
                  <a:pt x="1064777" y="0"/>
                </a:lnTo>
                <a:lnTo>
                  <a:pt x="1064777" y="1155084"/>
                </a:lnTo>
                <a:lnTo>
                  <a:pt x="0" y="115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8"/>
          <p:cNvSpPr/>
          <p:nvPr/>
        </p:nvSpPr>
        <p:spPr>
          <a:xfrm>
            <a:off x="6357468" y="3107111"/>
            <a:ext cx="1014804" cy="1041311"/>
          </a:xfrm>
          <a:custGeom>
            <a:avLst/>
            <a:gdLst/>
            <a:ahLst/>
            <a:cxnLst/>
            <a:rect l="l" t="t" r="r" b="b"/>
            <a:pathLst>
              <a:path w="1014804" h="1041311" extrusionOk="0">
                <a:moveTo>
                  <a:pt x="0" y="0"/>
                </a:moveTo>
                <a:lnTo>
                  <a:pt x="1014804" y="0"/>
                </a:lnTo>
                <a:lnTo>
                  <a:pt x="1014804" y="1041310"/>
                </a:lnTo>
                <a:lnTo>
                  <a:pt x="0" y="1041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8"/>
          <p:cNvSpPr/>
          <p:nvPr/>
        </p:nvSpPr>
        <p:spPr>
          <a:xfrm>
            <a:off x="10918284" y="7688926"/>
            <a:ext cx="1048308" cy="1061822"/>
          </a:xfrm>
          <a:custGeom>
            <a:avLst/>
            <a:gdLst/>
            <a:ahLst/>
            <a:cxnLst/>
            <a:rect l="l" t="t" r="r" b="b"/>
            <a:pathLst>
              <a:path w="1048308" h="1061822" extrusionOk="0">
                <a:moveTo>
                  <a:pt x="0" y="0"/>
                </a:moveTo>
                <a:lnTo>
                  <a:pt x="1048307" y="0"/>
                </a:lnTo>
                <a:lnTo>
                  <a:pt x="1048307" y="1061822"/>
                </a:lnTo>
                <a:lnTo>
                  <a:pt x="0" y="1061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8"/>
          <p:cNvSpPr/>
          <p:nvPr/>
        </p:nvSpPr>
        <p:spPr>
          <a:xfrm>
            <a:off x="8318758" y="4965104"/>
            <a:ext cx="1900948" cy="1835279"/>
          </a:xfrm>
          <a:custGeom>
            <a:avLst/>
            <a:gdLst/>
            <a:ahLst/>
            <a:cxnLst/>
            <a:rect l="l" t="t" r="r" b="b"/>
            <a:pathLst>
              <a:path w="1900948" h="1835279" extrusionOk="0">
                <a:moveTo>
                  <a:pt x="0" y="0"/>
                </a:moveTo>
                <a:lnTo>
                  <a:pt x="1900948" y="0"/>
                </a:lnTo>
                <a:lnTo>
                  <a:pt x="1900948" y="1835279"/>
                </a:lnTo>
                <a:lnTo>
                  <a:pt x="0" y="1835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8"/>
          <p:cNvSpPr/>
          <p:nvPr/>
        </p:nvSpPr>
        <p:spPr>
          <a:xfrm>
            <a:off x="6459715" y="7625567"/>
            <a:ext cx="1030217" cy="1293652"/>
          </a:xfrm>
          <a:custGeom>
            <a:avLst/>
            <a:gdLst/>
            <a:ahLst/>
            <a:cxnLst/>
            <a:rect l="l" t="t" r="r" b="b"/>
            <a:pathLst>
              <a:path w="1030217" h="1293652" extrusionOk="0">
                <a:moveTo>
                  <a:pt x="0" y="0"/>
                </a:moveTo>
                <a:lnTo>
                  <a:pt x="1030217" y="0"/>
                </a:lnTo>
                <a:lnTo>
                  <a:pt x="1030217" y="1293652"/>
                </a:lnTo>
                <a:lnTo>
                  <a:pt x="0" y="1293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8"/>
          <p:cNvCxnSpPr/>
          <p:nvPr/>
        </p:nvCxnSpPr>
        <p:spPr>
          <a:xfrm>
            <a:off x="2179356" y="3402249"/>
            <a:ext cx="36765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8"/>
          <p:cNvCxnSpPr/>
          <p:nvPr/>
        </p:nvCxnSpPr>
        <p:spPr>
          <a:xfrm>
            <a:off x="2179356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8"/>
          <p:cNvCxnSpPr/>
          <p:nvPr/>
        </p:nvCxnSpPr>
        <p:spPr>
          <a:xfrm>
            <a:off x="12443842" y="3402249"/>
            <a:ext cx="37302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" name="Google Shape;138;p8"/>
          <p:cNvCxnSpPr/>
          <p:nvPr/>
        </p:nvCxnSpPr>
        <p:spPr>
          <a:xfrm>
            <a:off x="12443842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8"/>
          <p:cNvSpPr txBox="1">
            <a:spLocks noGrp="1"/>
          </p:cNvSpPr>
          <p:nvPr>
            <p:ph type="subTitle" idx="1"/>
          </p:nvPr>
        </p:nvSpPr>
        <p:spPr>
          <a:xfrm>
            <a:off x="14057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2"/>
          </p:nvPr>
        </p:nvSpPr>
        <p:spPr>
          <a:xfrm>
            <a:off x="952275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3"/>
          </p:nvPr>
        </p:nvSpPr>
        <p:spPr>
          <a:xfrm>
            <a:off x="140575" y="7057217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4"/>
          </p:nvPr>
        </p:nvSpPr>
        <p:spPr>
          <a:xfrm>
            <a:off x="952275" y="7963983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ubTitle" idx="5"/>
          </p:nvPr>
        </p:nvSpPr>
        <p:spPr>
          <a:xfrm>
            <a:off x="1323342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6"/>
          </p:nvPr>
        </p:nvSpPr>
        <p:spPr>
          <a:xfrm>
            <a:off x="13270400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subTitle" idx="7"/>
          </p:nvPr>
        </p:nvSpPr>
        <p:spPr>
          <a:xfrm>
            <a:off x="13233425" y="705721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body" idx="8"/>
          </p:nvPr>
        </p:nvSpPr>
        <p:spPr>
          <a:xfrm>
            <a:off x="13270400" y="796398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9411612" y="8303699"/>
            <a:ext cx="8437612" cy="1011751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028700" y="2959960"/>
            <a:ext cx="886592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0" i="0" u="none" strike="noStrike" cap="none" dirty="0" err="1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SmartQueryBI</a:t>
            </a:r>
            <a:endParaRPr sz="1200" dirty="0"/>
          </a:p>
        </p:txBody>
      </p:sp>
      <p:sp>
        <p:nvSpPr>
          <p:cNvPr id="155" name="Google Shape;155;p9"/>
          <p:cNvSpPr txBox="1"/>
          <p:nvPr/>
        </p:nvSpPr>
        <p:spPr>
          <a:xfrm>
            <a:off x="1028700" y="6098701"/>
            <a:ext cx="8382912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6000" dirty="0">
                <a:solidFill>
                  <a:srgbClr val="CCFFA4"/>
                </a:solidFill>
                <a:latin typeface="Rajdhani"/>
                <a:cs typeface="Rajdhani"/>
              </a:rPr>
              <a:t>Mehrschichtige Caching-Architekturen in modernen BI-Systemen </a:t>
            </a:r>
            <a:endParaRPr sz="60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" name="Google Shape;155;p9">
            <a:extLst>
              <a:ext uri="{FF2B5EF4-FFF2-40B4-BE49-F238E27FC236}">
                <a16:creationId xmlns:a16="http://schemas.microsoft.com/office/drawing/2014/main" id="{178A57B9-2F68-8DB5-319A-9F5C8A7AD2FD}"/>
              </a:ext>
            </a:extLst>
          </p:cNvPr>
          <p:cNvSpPr txBox="1"/>
          <p:nvPr/>
        </p:nvSpPr>
        <p:spPr>
          <a:xfrm>
            <a:off x="1028700" y="9747437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Torsten Steinmüller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3" name="Google Shape;155;p9">
            <a:extLst>
              <a:ext uri="{FF2B5EF4-FFF2-40B4-BE49-F238E27FC236}">
                <a16:creationId xmlns:a16="http://schemas.microsoft.com/office/drawing/2014/main" id="{B2CBF5A3-EEAB-5BF6-DE7D-B6D9EE373371}"/>
              </a:ext>
            </a:extLst>
          </p:cNvPr>
          <p:cNvSpPr txBox="1"/>
          <p:nvPr/>
        </p:nvSpPr>
        <p:spPr>
          <a:xfrm>
            <a:off x="14924395" y="9747436"/>
            <a:ext cx="275173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2400" dirty="0">
                <a:solidFill>
                  <a:srgbClr val="CCFFA4"/>
                </a:solidFill>
                <a:latin typeface="Rajdhani"/>
                <a:cs typeface="Rajdhani"/>
              </a:rPr>
              <a:t>Kamal Badawi</a:t>
            </a:r>
            <a:endParaRPr sz="2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1257099" y="800136"/>
            <a:ext cx="71769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TABLE OF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6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CONTENTS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12678653" y="1488914"/>
            <a:ext cx="48438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43D29F"/>
                </a:solidFill>
                <a:latin typeface="Rajdhani"/>
                <a:cs typeface="Rajdhani"/>
                <a:sym typeface="Lato"/>
              </a:rPr>
              <a:t>Idee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2678654" y="4172434"/>
            <a:ext cx="56223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Caching-Strategien</a:t>
            </a:r>
          </a:p>
        </p:txBody>
      </p:sp>
      <p:sp>
        <p:nvSpPr>
          <p:cNvPr id="172" name="Google Shape;172;p10"/>
          <p:cNvSpPr txBox="1"/>
          <p:nvPr/>
        </p:nvSpPr>
        <p:spPr>
          <a:xfrm>
            <a:off x="12678653" y="7073458"/>
            <a:ext cx="577311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0"/>
              </a:lnSpc>
            </a:pPr>
            <a:r>
              <a:rPr lang="de-DE" sz="5400" dirty="0">
                <a:solidFill>
                  <a:srgbClr val="43D29F"/>
                </a:solidFill>
                <a:latin typeface="Rajdhani"/>
                <a:cs typeface="Rajdhani"/>
              </a:rPr>
              <a:t>Fazit</a:t>
            </a:r>
            <a:endParaRPr sz="5400" dirty="0">
              <a:solidFill>
                <a:srgbClr val="43D29F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1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178" name="Google Shape;178;p11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11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11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11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1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83" name="Google Shape;18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3562466" y="8248399"/>
            <a:ext cx="14394000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IDEE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3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218" name="Google Shape;21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19" name="Google Shape;219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20" name="Google Shape;22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" name="Google Shape;222;p13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4" name="Google Shape;224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25" name="Google Shape;22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7" name="Google Shape;227;p13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9" name="Google Shape;229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30" name="Google Shape;23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3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34" name="Google Shape;234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35" name="Google Shape;23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7" name="Google Shape;237;p13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8" name="Google Shape;238;p13"/>
          <p:cNvGrpSpPr/>
          <p:nvPr/>
        </p:nvGrpSpPr>
        <p:grpSpPr>
          <a:xfrm>
            <a:off x="7017575" y="6278589"/>
            <a:ext cx="405341" cy="410091"/>
            <a:chOff x="0" y="-9525"/>
            <a:chExt cx="812800" cy="822325"/>
          </a:xfrm>
        </p:grpSpPr>
        <p:sp>
          <p:nvSpPr>
            <p:cNvPr id="239" name="Google Shape;23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3"/>
          <p:cNvGrpSpPr/>
          <p:nvPr/>
        </p:nvGrpSpPr>
        <p:grpSpPr>
          <a:xfrm>
            <a:off x="14705308" y="6278589"/>
            <a:ext cx="405341" cy="410091"/>
            <a:chOff x="0" y="-9525"/>
            <a:chExt cx="812800" cy="822325"/>
          </a:xfrm>
        </p:grpSpPr>
        <p:sp>
          <p:nvSpPr>
            <p:cNvPr id="242" name="Google Shape;24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3"/>
          <p:cNvGrpSpPr/>
          <p:nvPr/>
        </p:nvGrpSpPr>
        <p:grpSpPr>
          <a:xfrm>
            <a:off x="10861442" y="6259589"/>
            <a:ext cx="405341" cy="429091"/>
            <a:chOff x="0" y="-47625"/>
            <a:chExt cx="812800" cy="860425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3170068" y="6259589"/>
            <a:ext cx="405341" cy="429091"/>
            <a:chOff x="0" y="-47625"/>
            <a:chExt cx="812800" cy="860425"/>
          </a:xfrm>
        </p:grpSpPr>
        <p:sp>
          <p:nvSpPr>
            <p:cNvPr id="248" name="Google Shape;248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3"/>
          <p:cNvSpPr txBox="1"/>
          <p:nvPr/>
        </p:nvSpPr>
        <p:spPr>
          <a:xfrm>
            <a:off x="1028699" y="634969"/>
            <a:ext cx="14447861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1"/>
              </a:lnSpc>
            </a:pPr>
            <a:r>
              <a:rPr lang="de-DE" sz="10508" dirty="0">
                <a:solidFill>
                  <a:srgbClr val="CCFFA4"/>
                </a:solidFill>
                <a:latin typeface="Rajdhani"/>
                <a:cs typeface="Rajdhani"/>
              </a:rPr>
              <a:t>Von Text zu Diagramm</a:t>
            </a:r>
            <a:endParaRPr sz="10508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2023338" y="7775425"/>
            <a:ext cx="2698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Datenwunsch in Textform eingeben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6014077" y="7775425"/>
            <a:ext cx="24123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Gemini interpretiert Text → SQL-Abfrage &amp; passendes Nivo.js-Diagramm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9718376" y="7775425"/>
            <a:ext cx="2698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SQL-Abfrage zieht Daten aus </a:t>
            </a:r>
            <a:r>
              <a:rPr lang="de-DE" sz="2000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Supabase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13603275" y="7775425"/>
            <a:ext cx="26238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Daten werden für das gewählte Diagramm formatiert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2242750" y="7031575"/>
            <a:ext cx="22599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Nutzerinput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6179728" y="7031575"/>
            <a:ext cx="20811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Analyse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9934162" y="7031575"/>
            <a:ext cx="22599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Datenabruf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13482150" y="7031575"/>
            <a:ext cx="28662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Aufbereitung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59" name="Google Shape;2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7"/>
          <p:cNvPicPr preferRelativeResize="0"/>
          <p:nvPr/>
        </p:nvPicPr>
        <p:blipFill rotWithShape="1">
          <a:blip r:embed="rId3">
            <a:alphaModFix/>
          </a:blip>
          <a:srcRect r="59661"/>
          <a:stretch/>
        </p:blipFill>
        <p:spPr>
          <a:xfrm>
            <a:off x="15477375" y="1261250"/>
            <a:ext cx="2810625" cy="9025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80ADF3E-B28D-2D7E-1E48-12E6FE0FD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140332"/>
            <a:ext cx="9286249" cy="6511699"/>
          </a:xfrm>
          <a:prstGeom prst="rect">
            <a:avLst/>
          </a:prstGeom>
        </p:spPr>
      </p:pic>
      <p:sp>
        <p:nvSpPr>
          <p:cNvPr id="6" name="Google Shape;268;p14">
            <a:extLst>
              <a:ext uri="{FF2B5EF4-FFF2-40B4-BE49-F238E27FC236}">
                <a16:creationId xmlns:a16="http://schemas.microsoft.com/office/drawing/2014/main" id="{631447D9-3429-2E66-3747-80E3DFB4EA11}"/>
              </a:ext>
            </a:extLst>
          </p:cNvPr>
          <p:cNvSpPr txBox="1"/>
          <p:nvPr/>
        </p:nvSpPr>
        <p:spPr>
          <a:xfrm>
            <a:off x="1028700" y="634969"/>
            <a:ext cx="8810445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ER-Modell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r="15419"/>
          <a:stretch/>
        </p:blipFill>
        <p:spPr>
          <a:xfrm>
            <a:off x="10293250" y="1470750"/>
            <a:ext cx="7994751" cy="80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 txBox="1"/>
          <p:nvPr/>
        </p:nvSpPr>
        <p:spPr>
          <a:xfrm>
            <a:off x="1028700" y="634969"/>
            <a:ext cx="13014846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3001"/>
              </a:lnSpc>
            </a:pPr>
            <a:r>
              <a:rPr lang="de-DE" sz="10508" dirty="0">
                <a:solidFill>
                  <a:srgbClr val="CCFFA4"/>
                </a:solidFill>
                <a:latin typeface="Rajdhani"/>
                <a:cs typeface="Rajdhani"/>
              </a:rPr>
              <a:t>Herausforderungen</a:t>
            </a:r>
          </a:p>
        </p:txBody>
      </p:sp>
      <p:sp>
        <p:nvSpPr>
          <p:cNvPr id="269" name="Google Shape;269;p14"/>
          <p:cNvSpPr txBox="1"/>
          <p:nvPr/>
        </p:nvSpPr>
        <p:spPr>
          <a:xfrm>
            <a:off x="1942301" y="2508020"/>
            <a:ext cx="1265877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4188144" y="6246371"/>
            <a:ext cx="1385711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dirty="0"/>
          </a:p>
        </p:txBody>
      </p:sp>
      <p:sp>
        <p:nvSpPr>
          <p:cNvPr id="271" name="Google Shape;271;p14"/>
          <p:cNvSpPr txBox="1"/>
          <p:nvPr/>
        </p:nvSpPr>
        <p:spPr>
          <a:xfrm>
            <a:off x="6730118" y="2508020"/>
            <a:ext cx="1599638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1250800" y="4521975"/>
            <a:ext cx="2649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Hohe Wartezeiten</a:t>
            </a:r>
          </a:p>
          <a:p>
            <a:pPr lvl="0" algn="ctr">
              <a:lnSpc>
                <a:spcPct val="120000"/>
              </a:lnSpc>
            </a:pPr>
            <a:endParaRPr lang="de-DE" sz="20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lvl="0" algn="ctr">
              <a:lnSpc>
                <a:spcPct val="120000"/>
              </a:lnSpc>
            </a:pPr>
            <a:r>
              <a:rPr lang="de-DE" sz="20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</a:t>
            </a: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Abfragen dauern lange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3556460" y="8317755"/>
            <a:ext cx="264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000"/>
              </a:lnSpc>
            </a:pPr>
            <a:r>
              <a:rPr lang="de-DE" sz="20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Skalierungsprobleme</a:t>
            </a:r>
          </a:p>
          <a:p>
            <a:pPr lvl="0" algn="ctr">
              <a:lnSpc>
                <a:spcPct val="120000"/>
              </a:lnSpc>
            </a:pPr>
            <a:endParaRPr lang="de-DE" sz="20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lvl="0"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Systemleistung sinkt bei vielen Nutzern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6205460" y="4521975"/>
            <a:ext cx="264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de-DE" sz="20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Hohe Betriebskosten</a:t>
            </a:r>
          </a:p>
          <a:p>
            <a:pPr algn="ctr">
              <a:lnSpc>
                <a:spcPct val="120000"/>
              </a:lnSpc>
            </a:pPr>
            <a:endParaRPr lang="de-DE" sz="20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algn="ctr">
              <a:lnSpc>
                <a:spcPct val="12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Viele Datenabfragen belasten Ressourcen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12"/>
          <p:cNvGrpSpPr/>
          <p:nvPr/>
        </p:nvGrpSpPr>
        <p:grpSpPr>
          <a:xfrm>
            <a:off x="7739729" y="3141162"/>
            <a:ext cx="5588166" cy="5653652"/>
            <a:chOff x="0" y="-9525"/>
            <a:chExt cx="812800" cy="822325"/>
          </a:xfrm>
        </p:grpSpPr>
        <p:sp>
          <p:nvSpPr>
            <p:cNvPr id="200" name="Google Shape;200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2"/>
          <p:cNvGrpSpPr/>
          <p:nvPr/>
        </p:nvGrpSpPr>
        <p:grpSpPr>
          <a:xfrm>
            <a:off x="7844131" y="2939234"/>
            <a:ext cx="5588166" cy="5653652"/>
            <a:chOff x="0" y="-9525"/>
            <a:chExt cx="812800" cy="822325"/>
          </a:xfrm>
        </p:grpSpPr>
        <p:sp>
          <p:nvSpPr>
            <p:cNvPr id="203" name="Google Shape;203;p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2"/>
          <p:cNvSpPr txBox="1"/>
          <p:nvPr/>
        </p:nvSpPr>
        <p:spPr>
          <a:xfrm>
            <a:off x="8759102" y="5751178"/>
            <a:ext cx="36537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de-DE" sz="2000" dirty="0">
                <a:latin typeface="Lato"/>
                <a:ea typeface="Lato"/>
                <a:cs typeface="Lato"/>
              </a:rPr>
              <a:t>Zwischenspeicherung von Daten für schnellere Abfragen, geringere Kosten und stabile Performance auch bei vielen Nutzern</a:t>
            </a:r>
            <a:endParaRPr sz="2000" dirty="0">
              <a:latin typeface="Lato"/>
              <a:ea typeface="Lato"/>
              <a:cs typeface="Lato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9286940" y="5188311"/>
            <a:ext cx="25980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3024"/>
              </a:lnSpc>
            </a:pPr>
            <a:r>
              <a:rPr lang="de-DE" sz="2599" b="1" dirty="0">
                <a:latin typeface="Lato"/>
                <a:ea typeface="Lato"/>
                <a:cs typeface="Lato"/>
              </a:rPr>
              <a:t>Caching</a:t>
            </a:r>
            <a:endParaRPr sz="2599" b="1" dirty="0">
              <a:latin typeface="Lato"/>
              <a:ea typeface="Lato"/>
              <a:cs typeface="Lato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028700" y="634969"/>
            <a:ext cx="11933913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 err="1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Lösung</a:t>
            </a:r>
            <a:endParaRPr dirty="0"/>
          </a:p>
        </p:txBody>
      </p:sp>
      <p:pic>
        <p:nvPicPr>
          <p:cNvPr id="211" name="Google Shape;21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5677" y="3510886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9995" y="2939240"/>
            <a:ext cx="7911506" cy="64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16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26" name="Google Shape;326;p16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31" name="Google Shape;3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475" y="242546"/>
            <a:ext cx="11296899" cy="9215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16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331466" y="7282364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336" name="Google Shape;336;p16"/>
          <p:cNvSpPr txBox="1"/>
          <p:nvPr/>
        </p:nvSpPr>
        <p:spPr>
          <a:xfrm>
            <a:off x="4983412" y="8189030"/>
            <a:ext cx="12158176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Caching-Strategien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B38D8822-0D26-7BE3-9FA8-0B3C291A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Client-Side Caching</a:t>
            </a:r>
          </a:p>
        </p:txBody>
      </p:sp>
      <p:sp>
        <p:nvSpPr>
          <p:cNvPr id="16" name="Untertitel 15">
            <a:extLst>
              <a:ext uri="{FF2B5EF4-FFF2-40B4-BE49-F238E27FC236}">
                <a16:creationId xmlns:a16="http://schemas.microsoft.com/office/drawing/2014/main" id="{B5D04016-BB18-AF1B-AC82-6636E0EE64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18" name="Untertitel 17">
            <a:extLst>
              <a:ext uri="{FF2B5EF4-FFF2-40B4-BE49-F238E27FC236}">
                <a16:creationId xmlns:a16="http://schemas.microsoft.com/office/drawing/2014/main" id="{D689AC5C-7011-9648-3D29-DC297A18C98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CB33D01F-934A-557D-4003-1915B684EDDB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de-DE" dirty="0"/>
              <a:t>Einsatzszenarien</a:t>
            </a:r>
          </a:p>
        </p:txBody>
      </p:sp>
      <p:sp>
        <p:nvSpPr>
          <p:cNvPr id="22" name="Untertitel 21">
            <a:extLst>
              <a:ext uri="{FF2B5EF4-FFF2-40B4-BE49-F238E27FC236}">
                <a16:creationId xmlns:a16="http://schemas.microsoft.com/office/drawing/2014/main" id="{7E6EA4BF-4BC8-3DE4-60CF-DDB522D82FC4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5D053C6E-ABF8-203C-4CD2-A81F5A64C14C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952275" y="3642778"/>
            <a:ext cx="477978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  <a:sym typeface="Arial"/>
              </a:rPr>
              <a:t>Antworten auf identische Anfragen werden lokal gespeichert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  <a:sym typeface="Arial"/>
              </a:rPr>
              <a:t>Nutzung von HTTP-Caching (z. B. Cache-Control)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  <a:sym typeface="Arial"/>
              </a:rPr>
              <a:t>Entlastet Server &amp; Datenbank</a:t>
            </a:r>
          </a:p>
        </p:txBody>
      </p:sp>
      <p:sp>
        <p:nvSpPr>
          <p:cNvPr id="25" name="Rectangle 2">
            <a:extLst>
              <a:ext uri="{FF2B5EF4-FFF2-40B4-BE49-F238E27FC236}">
                <a16:creationId xmlns:a16="http://schemas.microsoft.com/office/drawing/2014/main" id="{EDC0356C-3FBB-9887-AE06-FA3EC94F2343}"/>
              </a:ext>
            </a:extLst>
          </p:cNvPr>
          <p:cNvSpPr>
            <a:spLocks noGrp="1" noChangeArrowheads="1"/>
          </p:cNvSpPr>
          <p:nvPr>
            <p:ph type="body" idx="6"/>
          </p:nvPr>
        </p:nvSpPr>
        <p:spPr bwMode="auto">
          <a:xfrm>
            <a:off x="13270400" y="3950554"/>
            <a:ext cx="383791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Standardberichte &amp; KPIs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Interaktive Web-Dashboards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Wiederholte Visualisierungen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99D09742-F56F-1FC0-16D9-5A56CD65C77E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952275" y="8309802"/>
            <a:ext cx="530465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Extrem niedrige Latenz (sub-</a:t>
            </a:r>
            <a:r>
              <a:rPr lang="de-DE" altLang="de-DE" dirty="0" err="1">
                <a:solidFill>
                  <a:srgbClr val="FFFFFF"/>
                </a:solidFill>
              </a:rPr>
              <a:t>ms</a:t>
            </a:r>
            <a:r>
              <a:rPr lang="de-DE" altLang="de-DE" dirty="0">
                <a:solidFill>
                  <a:srgbClr val="FFFFFF"/>
                </a:solidFill>
              </a:rPr>
              <a:t>)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Keine Serverressourcen nötig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Ideal für wiederholte Dashboard-Abfragen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6E530040-8556-7B1D-8FD9-30C6752D1124}"/>
              </a:ext>
            </a:extLst>
          </p:cNvPr>
          <p:cNvSpPr>
            <a:spLocks noGrp="1" noChangeArrowheads="1"/>
          </p:cNvSpPr>
          <p:nvPr>
            <p:ph type="body" idx="8"/>
          </p:nvPr>
        </p:nvSpPr>
        <p:spPr bwMode="auto">
          <a:xfrm>
            <a:off x="13270400" y="7848140"/>
            <a:ext cx="396672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Nur für identische Anfragen wirksam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Personalisierte Daten eingeschränkt cache-bar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Kaum Kontrolle über Browser-Cache</a:t>
            </a:r>
          </a:p>
        </p:txBody>
      </p:sp>
    </p:spTree>
    <p:extLst>
      <p:ext uri="{BB962C8B-B14F-4D97-AF65-F5344CB8AC3E}">
        <p14:creationId xmlns:p14="http://schemas.microsoft.com/office/powerpoint/2010/main" val="165165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A012-92B0-0A32-FBCD-DF0FC115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BF74A04F-CC5A-2106-577F-2B82EDA2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Server-Side LRU Cache</a:t>
            </a:r>
          </a:p>
        </p:txBody>
      </p:sp>
      <p:sp>
        <p:nvSpPr>
          <p:cNvPr id="16" name="Untertitel 15">
            <a:extLst>
              <a:ext uri="{FF2B5EF4-FFF2-40B4-BE49-F238E27FC236}">
                <a16:creationId xmlns:a16="http://schemas.microsoft.com/office/drawing/2014/main" id="{81C356CF-0F8B-5CB2-2603-9B7DB14AC0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18" name="Untertitel 17">
            <a:extLst>
              <a:ext uri="{FF2B5EF4-FFF2-40B4-BE49-F238E27FC236}">
                <a16:creationId xmlns:a16="http://schemas.microsoft.com/office/drawing/2014/main" id="{561CE7B2-FA01-A514-9348-BB54D20FB62D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33D43134-3858-B567-30FD-0C378D405946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de-DE" dirty="0"/>
              <a:t>Einsatzszenarien</a:t>
            </a:r>
          </a:p>
        </p:txBody>
      </p:sp>
      <p:sp>
        <p:nvSpPr>
          <p:cNvPr id="22" name="Untertitel 21">
            <a:extLst>
              <a:ext uri="{FF2B5EF4-FFF2-40B4-BE49-F238E27FC236}">
                <a16:creationId xmlns:a16="http://schemas.microsoft.com/office/drawing/2014/main" id="{3D051D46-BAEC-CF85-4D32-1DD05858A51F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0A572A-93E1-B14A-6B42-DBA05BF61031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952500" y="3488205"/>
            <a:ext cx="445201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Speichert häufig genutzte Ergebnisse im RAM</a:t>
            </a:r>
          </a:p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LRU-Prinzip: alte Einträge werden automatisch entfernt</a:t>
            </a:r>
          </a:p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Ideal für wiederholte serverseitige SQL-/LLM-Pipelines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E66CE-F4CF-9A19-A49A-BC83C5FA2FA6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952500" y="8001368"/>
            <a:ext cx="37832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Millisekunden-Antwortzeiten</a:t>
            </a:r>
          </a:p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Kein externer Speicher notwendig</a:t>
            </a:r>
          </a:p>
          <a:p>
            <a:pPr marL="342900" lvl="0" indent="-34290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Sehr geringer Implementierungsaufwand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AC923F-294C-8D3F-E3E4-79843F402CC0}"/>
              </a:ext>
            </a:extLst>
          </p:cNvPr>
          <p:cNvSpPr>
            <a:spLocks noGrp="1" noChangeArrowheads="1"/>
          </p:cNvSpPr>
          <p:nvPr>
            <p:ph type="body" idx="8"/>
          </p:nvPr>
        </p:nvSpPr>
        <p:spPr bwMode="auto">
          <a:xfrm>
            <a:off x="13269913" y="8155256"/>
            <a:ext cx="378327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Keine Persistenz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Nur für eine einzelne Serverinstanz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Speicher begrenzt (</a:t>
            </a:r>
            <a:r>
              <a:rPr lang="de-DE" altLang="de-DE" dirty="0" err="1">
                <a:solidFill>
                  <a:srgbClr val="FFFFFF"/>
                </a:solidFill>
              </a:rPr>
              <a:t>maxsize</a:t>
            </a:r>
            <a:r>
              <a:rPr lang="de-DE" altLang="de-DE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3288D-A970-0AD6-971E-9381CCADA9C0}"/>
              </a:ext>
            </a:extLst>
          </p:cNvPr>
          <p:cNvSpPr>
            <a:spLocks noGrp="1" noChangeArrowheads="1"/>
          </p:cNvSpPr>
          <p:nvPr>
            <p:ph type="body" idx="6"/>
          </p:nvPr>
        </p:nvSpPr>
        <p:spPr bwMode="auto">
          <a:xfrm>
            <a:off x="13269913" y="3642093"/>
            <a:ext cx="362601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Ad-hoc-Analysen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Wiederkehrende Abfragen auf einem Server</a:t>
            </a:r>
          </a:p>
          <a:p>
            <a:pPr marL="342900" lvl="0" indent="-342900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de-DE" altLang="de-DE" dirty="0">
                <a:solidFill>
                  <a:srgbClr val="FFFFFF"/>
                </a:solidFill>
              </a:rPr>
              <a:t>Vorhalten populärer Reports im RAM</a:t>
            </a:r>
          </a:p>
        </p:txBody>
      </p:sp>
    </p:spTree>
    <p:extLst>
      <p:ext uri="{BB962C8B-B14F-4D97-AF65-F5344CB8AC3E}">
        <p14:creationId xmlns:p14="http://schemas.microsoft.com/office/powerpoint/2010/main" val="135094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DDAE-CC74-BB87-245C-C14E83F90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2B73817E-48DE-8FF9-FFD6-4992B39B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Redis</a:t>
            </a:r>
            <a:r>
              <a:rPr lang="de-DE" dirty="0"/>
              <a:t> Distributed Cache</a:t>
            </a:r>
          </a:p>
        </p:txBody>
      </p:sp>
      <p:sp>
        <p:nvSpPr>
          <p:cNvPr id="16" name="Untertitel 15">
            <a:extLst>
              <a:ext uri="{FF2B5EF4-FFF2-40B4-BE49-F238E27FC236}">
                <a16:creationId xmlns:a16="http://schemas.microsoft.com/office/drawing/2014/main" id="{300A758F-B3A0-0401-2B72-287EC4993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18" name="Untertitel 17">
            <a:extLst>
              <a:ext uri="{FF2B5EF4-FFF2-40B4-BE49-F238E27FC236}">
                <a16:creationId xmlns:a16="http://schemas.microsoft.com/office/drawing/2014/main" id="{CA70080B-2498-A349-2E71-AA4EB5D31A8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r>
              <a:rPr lang="de-DE" dirty="0"/>
              <a:t>Vorteile</a:t>
            </a:r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1B274853-0E4C-1312-7A51-B38FD0A261E5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r>
              <a:rPr lang="de-DE" dirty="0"/>
              <a:t>Einsatzszenarien</a:t>
            </a:r>
          </a:p>
        </p:txBody>
      </p:sp>
      <p:sp>
        <p:nvSpPr>
          <p:cNvPr id="22" name="Untertitel 21">
            <a:extLst>
              <a:ext uri="{FF2B5EF4-FFF2-40B4-BE49-F238E27FC236}">
                <a16:creationId xmlns:a16="http://schemas.microsoft.com/office/drawing/2014/main" id="{7C783784-D266-C643-3566-274AFD8C3D1D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r>
              <a:rPr lang="de-DE" dirty="0"/>
              <a:t>Nachteile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8FD09-EBD5-7AD4-E1A4-412441F7F875}"/>
              </a:ext>
            </a:extLst>
          </p:cNvPr>
          <p:cNvSpPr>
            <a:spLocks noGrp="1" noChangeArrowheads="1"/>
          </p:cNvSpPr>
          <p:nvPr>
            <p:ph type="body" idx="2"/>
          </p:nvPr>
        </p:nvSpPr>
        <p:spPr bwMode="auto">
          <a:xfrm>
            <a:off x="952500" y="3488205"/>
            <a:ext cx="46840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Externer, persistenter Key-Value Store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Multi-Server- und Multi-User-fähig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Beinhaltet vollständige Pipelines (LLM → SQL → Daten → </a:t>
            </a:r>
            <a:r>
              <a:rPr lang="de-DE" altLang="de-DE" dirty="0" err="1">
                <a:solidFill>
                  <a:srgbClr val="FFFFFF"/>
                </a:solidFill>
              </a:rPr>
              <a:t>Nivo</a:t>
            </a:r>
            <a:r>
              <a:rPr lang="de-DE" altLang="de-DE" dirty="0">
                <a:solidFill>
                  <a:srgbClr val="FFFFFF"/>
                </a:solidFill>
              </a:rPr>
              <a:t>-Dataset)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68E85-FD76-B457-DE09-F273B7EA84C6}"/>
              </a:ext>
            </a:extLst>
          </p:cNvPr>
          <p:cNvSpPr>
            <a:spLocks noGrp="1" noChangeArrowheads="1"/>
          </p:cNvSpPr>
          <p:nvPr>
            <p:ph type="body" idx="4"/>
          </p:nvPr>
        </p:nvSpPr>
        <p:spPr bwMode="auto">
          <a:xfrm>
            <a:off x="952500" y="8155256"/>
            <a:ext cx="479320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Hohe Skalierbarkeit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Persistente Zwischenspeicherung</a:t>
            </a:r>
          </a:p>
          <a:p>
            <a:pPr marL="342900" indent="-3429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Deutliche Reduktion von LLM- und Datenbank-Aufrufen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A494ECC-7C56-E402-8C1D-CCF5835C49CF}"/>
              </a:ext>
            </a:extLst>
          </p:cNvPr>
          <p:cNvSpPr>
            <a:spLocks noGrp="1" noChangeArrowheads="1"/>
          </p:cNvSpPr>
          <p:nvPr>
            <p:ph type="body" idx="8"/>
          </p:nvPr>
        </p:nvSpPr>
        <p:spPr bwMode="auto">
          <a:xfrm>
            <a:off x="13269913" y="8001367"/>
            <a:ext cx="391261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Höhere Komplexität (</a:t>
            </a:r>
            <a:r>
              <a:rPr lang="de-DE" altLang="de-DE" dirty="0" err="1">
                <a:solidFill>
                  <a:srgbClr val="FFFFFF"/>
                </a:solidFill>
              </a:rPr>
              <a:t>Deployment</a:t>
            </a:r>
            <a:r>
              <a:rPr lang="de-DE" altLang="de-DE" dirty="0">
                <a:solidFill>
                  <a:srgbClr val="FFFFFF"/>
                </a:solidFill>
              </a:rPr>
              <a:t> &amp; Überwachung)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Netzwerkabhängige Latenz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Aktive Cache-Invalidation notwendig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95FE096-11A8-0976-DAB5-292A4901580B}"/>
              </a:ext>
            </a:extLst>
          </p:cNvPr>
          <p:cNvSpPr>
            <a:spLocks noGrp="1" noChangeArrowheads="1"/>
          </p:cNvSpPr>
          <p:nvPr>
            <p:ph type="body" idx="6"/>
          </p:nvPr>
        </p:nvSpPr>
        <p:spPr bwMode="auto">
          <a:xfrm>
            <a:off x="13269913" y="3642093"/>
            <a:ext cx="354412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Enterprise-Dashboards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Multi-Instance </a:t>
            </a:r>
            <a:r>
              <a:rPr lang="de-DE" altLang="de-DE" dirty="0" err="1">
                <a:solidFill>
                  <a:srgbClr val="FFFFFF"/>
                </a:solidFill>
              </a:rPr>
              <a:t>Deployments</a:t>
            </a:r>
            <a:endParaRPr lang="de-DE" altLang="de-DE" dirty="0">
              <a:solidFill>
                <a:srgbClr val="FFFFFF"/>
              </a:solidFill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de-DE" altLang="de-DE" dirty="0">
                <a:solidFill>
                  <a:srgbClr val="FFFFFF"/>
                </a:solidFill>
              </a:rPr>
              <a:t>Häufig genutzte, persistente BI-Queries</a:t>
            </a:r>
          </a:p>
        </p:txBody>
      </p:sp>
    </p:spTree>
    <p:extLst>
      <p:ext uri="{BB962C8B-B14F-4D97-AF65-F5344CB8AC3E}">
        <p14:creationId xmlns:p14="http://schemas.microsoft.com/office/powerpoint/2010/main" val="182902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4300" y="6992750"/>
            <a:ext cx="6466229" cy="3347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22"/>
          <p:cNvGrpSpPr/>
          <p:nvPr/>
        </p:nvGrpSpPr>
        <p:grpSpPr>
          <a:xfrm>
            <a:off x="14848764" y="6168788"/>
            <a:ext cx="2593076" cy="644012"/>
            <a:chOff x="0" y="-85725"/>
            <a:chExt cx="1170835" cy="492125"/>
          </a:xfrm>
        </p:grpSpPr>
        <p:sp>
          <p:nvSpPr>
            <p:cNvPr id="582" name="Google Shape;582;p22"/>
            <p:cNvSpPr/>
            <p:nvPr/>
          </p:nvSpPr>
          <p:spPr>
            <a:xfrm>
              <a:off x="0" y="0"/>
              <a:ext cx="1170835" cy="406400"/>
            </a:xfrm>
            <a:custGeom>
              <a:avLst/>
              <a:gdLst/>
              <a:ahLst/>
              <a:cxnLst/>
              <a:rect l="l" t="t" r="r" b="b"/>
              <a:pathLst>
                <a:path w="1170835" h="406400" extrusionOk="0">
                  <a:moveTo>
                    <a:pt x="96763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967635" y="406400"/>
                  </a:lnTo>
                  <a:lnTo>
                    <a:pt x="1170835" y="203200"/>
                  </a:lnTo>
                  <a:lnTo>
                    <a:pt x="96763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83" name="Google Shape;583;p22"/>
            <p:cNvSpPr txBox="1"/>
            <p:nvPr/>
          </p:nvSpPr>
          <p:spPr>
            <a:xfrm>
              <a:off x="0" y="-85725"/>
              <a:ext cx="1056535" cy="49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3" name="Google Shape;593;p22"/>
          <p:cNvGrpSpPr/>
          <p:nvPr/>
        </p:nvGrpSpPr>
        <p:grpSpPr>
          <a:xfrm>
            <a:off x="16429870" y="6299637"/>
            <a:ext cx="682389" cy="513163"/>
            <a:chOff x="0" y="0"/>
            <a:chExt cx="812800" cy="812800"/>
          </a:xfrm>
        </p:grpSpPr>
        <p:sp>
          <p:nvSpPr>
            <p:cNvPr id="594" name="Google Shape;594;p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</p:sp>
        <p:sp>
          <p:nvSpPr>
            <p:cNvPr id="595" name="Google Shape;595;p22"/>
            <p:cNvSpPr txBox="1"/>
            <p:nvPr/>
          </p:nvSpPr>
          <p:spPr>
            <a:xfrm>
              <a:off x="139700" y="53975"/>
              <a:ext cx="533400" cy="619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p22"/>
          <p:cNvSpPr/>
          <p:nvPr/>
        </p:nvSpPr>
        <p:spPr>
          <a:xfrm>
            <a:off x="16547156" y="6420891"/>
            <a:ext cx="424331" cy="270654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de-DE" dirty="0"/>
          </a:p>
        </p:txBody>
      </p:sp>
      <p:sp>
        <p:nvSpPr>
          <p:cNvPr id="604" name="Google Shape;604;p22"/>
          <p:cNvSpPr txBox="1"/>
          <p:nvPr/>
        </p:nvSpPr>
        <p:spPr>
          <a:xfrm>
            <a:off x="1028700" y="634969"/>
            <a:ext cx="9191006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 err="1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Vergleich</a:t>
            </a:r>
            <a:endParaRPr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7AD49C4-0C7E-5E04-742D-8F81C5CF5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303" y="3736919"/>
            <a:ext cx="9062170" cy="38735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0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508" name="Google Shape;508;p20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9" name="Google Shape;509;p20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0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1" name="Google Shape;511;p20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2" name="Google Shape;512;p20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513" name="Google Shape;5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24" y="685313"/>
            <a:ext cx="11548150" cy="8362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4" name="Google Shape;514;p20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331466" y="7340592"/>
            <a:ext cx="3230959" cy="277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3696354" y="8139637"/>
            <a:ext cx="13710135" cy="181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3000"/>
              </a:lnSpc>
            </a:pPr>
            <a:r>
              <a:rPr lang="de-DE" sz="9600" dirty="0">
                <a:solidFill>
                  <a:srgbClr val="CCFFA4"/>
                </a:solidFill>
                <a:latin typeface="Rajdhani"/>
                <a:cs typeface="Rajdhani"/>
              </a:rPr>
              <a:t>Fazit</a:t>
            </a:r>
            <a:endParaRPr sz="96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480" y="1238481"/>
            <a:ext cx="3916908" cy="15700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" name="Google Shape;524;p21"/>
          <p:cNvCxnSpPr/>
          <p:nvPr/>
        </p:nvCxnSpPr>
        <p:spPr>
          <a:xfrm rot="10800000">
            <a:off x="10963094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5" name="Google Shape;525;p21"/>
          <p:cNvGrpSpPr/>
          <p:nvPr/>
        </p:nvGrpSpPr>
        <p:grpSpPr>
          <a:xfrm>
            <a:off x="10126962" y="888395"/>
            <a:ext cx="1710363" cy="1730406"/>
            <a:chOff x="0" y="0"/>
            <a:chExt cx="2280484" cy="2307208"/>
          </a:xfrm>
        </p:grpSpPr>
        <p:grpSp>
          <p:nvGrpSpPr>
            <p:cNvPr id="526" name="Google Shape;526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27" name="Google Shape;52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30" name="Google Shape;530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2" name="Google Shape;532;p21"/>
          <p:cNvGrpSpPr/>
          <p:nvPr/>
        </p:nvGrpSpPr>
        <p:grpSpPr>
          <a:xfrm>
            <a:off x="10126962" y="3151615"/>
            <a:ext cx="1710363" cy="1730406"/>
            <a:chOff x="0" y="0"/>
            <a:chExt cx="2280484" cy="2307208"/>
          </a:xfrm>
        </p:grpSpPr>
        <p:grpSp>
          <p:nvGrpSpPr>
            <p:cNvPr id="533" name="Google Shape;533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34" name="Google Shape;53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37" name="Google Shape;53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9" name="Google Shape;539;p21"/>
          <p:cNvSpPr/>
          <p:nvPr/>
        </p:nvSpPr>
        <p:spPr>
          <a:xfrm>
            <a:off x="10648019" y="1521808"/>
            <a:ext cx="696988" cy="443538"/>
          </a:xfrm>
          <a:custGeom>
            <a:avLst/>
            <a:gdLst/>
            <a:ahLst/>
            <a:cxnLst/>
            <a:rect l="l" t="t" r="r" b="b"/>
            <a:pathLst>
              <a:path w="696988" h="443538" extrusionOk="0">
                <a:moveTo>
                  <a:pt x="0" y="0"/>
                </a:moveTo>
                <a:lnTo>
                  <a:pt x="696988" y="0"/>
                </a:lnTo>
                <a:lnTo>
                  <a:pt x="696988" y="443538"/>
                </a:lnTo>
                <a:lnTo>
                  <a:pt x="0" y="443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40" name="Google Shape;540;p21"/>
          <p:cNvGrpSpPr/>
          <p:nvPr/>
        </p:nvGrpSpPr>
        <p:grpSpPr>
          <a:xfrm>
            <a:off x="10126962" y="7678055"/>
            <a:ext cx="1710363" cy="1730406"/>
            <a:chOff x="0" y="0"/>
            <a:chExt cx="2280484" cy="2307208"/>
          </a:xfrm>
        </p:grpSpPr>
        <p:grpSp>
          <p:nvGrpSpPr>
            <p:cNvPr id="541" name="Google Shape;541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42" name="Google Shape;542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45" name="Google Shape;545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7" name="Google Shape;547;p21"/>
          <p:cNvSpPr/>
          <p:nvPr/>
        </p:nvSpPr>
        <p:spPr>
          <a:xfrm>
            <a:off x="10704678" y="8233779"/>
            <a:ext cx="583670" cy="598915"/>
          </a:xfrm>
          <a:custGeom>
            <a:avLst/>
            <a:gdLst/>
            <a:ahLst/>
            <a:cxnLst/>
            <a:rect l="l" t="t" r="r" b="b"/>
            <a:pathLst>
              <a:path w="583670" h="598915" extrusionOk="0">
                <a:moveTo>
                  <a:pt x="0" y="0"/>
                </a:moveTo>
                <a:lnTo>
                  <a:pt x="583670" y="0"/>
                </a:lnTo>
                <a:lnTo>
                  <a:pt x="583670" y="598916"/>
                </a:lnTo>
                <a:lnTo>
                  <a:pt x="0" y="598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8" name="Google Shape;548;p21"/>
          <p:cNvSpPr/>
          <p:nvPr/>
        </p:nvSpPr>
        <p:spPr>
          <a:xfrm>
            <a:off x="10648019" y="3707427"/>
            <a:ext cx="696988" cy="665307"/>
          </a:xfrm>
          <a:custGeom>
            <a:avLst/>
            <a:gdLst/>
            <a:ahLst/>
            <a:cxnLst/>
            <a:rect l="l" t="t" r="r" b="b"/>
            <a:pathLst>
              <a:path w="696988" h="665307" extrusionOk="0">
                <a:moveTo>
                  <a:pt x="0" y="0"/>
                </a:moveTo>
                <a:lnTo>
                  <a:pt x="696988" y="0"/>
                </a:lnTo>
                <a:lnTo>
                  <a:pt x="696988" y="665307"/>
                </a:lnTo>
                <a:lnTo>
                  <a:pt x="0" y="665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49" name="Google Shape;549;p21"/>
          <p:cNvGrpSpPr/>
          <p:nvPr/>
        </p:nvGrpSpPr>
        <p:grpSpPr>
          <a:xfrm>
            <a:off x="10126962" y="5414835"/>
            <a:ext cx="1710363" cy="1730406"/>
            <a:chOff x="0" y="0"/>
            <a:chExt cx="2280484" cy="2307208"/>
          </a:xfrm>
        </p:grpSpPr>
        <p:grpSp>
          <p:nvGrpSpPr>
            <p:cNvPr id="550" name="Google Shape;550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51" name="Google Shape;551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" name="Google Shape;553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54" name="Google Shape;55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56" name="Google Shape;556;p21"/>
          <p:cNvSpPr/>
          <p:nvPr/>
        </p:nvSpPr>
        <p:spPr>
          <a:xfrm>
            <a:off x="10648019" y="6042204"/>
            <a:ext cx="668250" cy="455625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8" name="Google Shape;558;p21"/>
          <p:cNvSpPr txBox="1"/>
          <p:nvPr/>
        </p:nvSpPr>
        <p:spPr>
          <a:xfrm>
            <a:off x="12269597" y="1657852"/>
            <a:ext cx="5240100" cy="112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endParaRPr lang="de-DE" sz="105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lvl="0">
              <a:lnSpc>
                <a:spcPct val="14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Millisekunden- bis Sub-Millisekunden-Antwortzeiten durch Caching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59" name="Google Shape;559;p21"/>
          <p:cNvSpPr txBox="1"/>
          <p:nvPr/>
        </p:nvSpPr>
        <p:spPr>
          <a:xfrm>
            <a:off x="12269597" y="1104136"/>
            <a:ext cx="44901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3000"/>
              </a:lnSpc>
            </a:pPr>
            <a:r>
              <a:rPr lang="de-DE" sz="23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Performance steigern</a:t>
            </a:r>
            <a:endParaRPr sz="2300" b="1" dirty="0">
              <a:solidFill>
                <a:srgbClr val="43D29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12269597" y="3891446"/>
            <a:ext cx="5240100" cy="108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de-DE" sz="105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lvl="0">
              <a:lnSpc>
                <a:spcPct val="14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Horizontale Erweiterung &amp; Reduzierung der Datenbanklast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1" name="Google Shape;561;p21"/>
          <p:cNvSpPr txBox="1"/>
          <p:nvPr/>
        </p:nvSpPr>
        <p:spPr>
          <a:xfrm>
            <a:off x="12269597" y="3337730"/>
            <a:ext cx="44901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3000"/>
              </a:lnSpc>
            </a:pPr>
            <a:r>
              <a:rPr lang="de-DE" sz="23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Skalierbarkeit erhöhen</a:t>
            </a:r>
            <a:endParaRPr sz="2300" b="1" dirty="0">
              <a:solidFill>
                <a:srgbClr val="43D29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2" name="Google Shape;562;p21"/>
          <p:cNvSpPr txBox="1"/>
          <p:nvPr/>
        </p:nvSpPr>
        <p:spPr>
          <a:xfrm>
            <a:off x="12269597" y="6125041"/>
            <a:ext cx="5240100" cy="1087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de-DE" sz="105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>
              <a:lnSpc>
                <a:spcPct val="14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Weniger LLM-API-Aufrufe, optimierte Serverressourcen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3" name="Google Shape;563;p21"/>
          <p:cNvSpPr txBox="1"/>
          <p:nvPr/>
        </p:nvSpPr>
        <p:spPr>
          <a:xfrm>
            <a:off x="12269597" y="5571324"/>
            <a:ext cx="49776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3000"/>
              </a:lnSpc>
            </a:pPr>
            <a:r>
              <a:rPr lang="de-DE" sz="23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Kosten senken</a:t>
            </a:r>
            <a:endParaRPr sz="2300" b="1" dirty="0">
              <a:solidFill>
                <a:srgbClr val="43D29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4" name="Google Shape;564;p21"/>
          <p:cNvSpPr txBox="1"/>
          <p:nvPr/>
        </p:nvSpPr>
        <p:spPr>
          <a:xfrm>
            <a:off x="12269597" y="8358635"/>
            <a:ext cx="5240100" cy="657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endParaRPr lang="de-DE" sz="105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  <a:p>
            <a:pPr lvl="0">
              <a:lnSpc>
                <a:spcPct val="140000"/>
              </a:lnSpc>
            </a:pPr>
            <a:r>
              <a:rPr lang="de-DE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Interaktive Dashboards ohne Wartezeiten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5" name="Google Shape;565;p21"/>
          <p:cNvSpPr txBox="1"/>
          <p:nvPr/>
        </p:nvSpPr>
        <p:spPr>
          <a:xfrm>
            <a:off x="12269597" y="7804919"/>
            <a:ext cx="49776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3000"/>
              </a:lnSpc>
            </a:pPr>
            <a:r>
              <a:rPr lang="de-DE" sz="2300" b="1" dirty="0">
                <a:solidFill>
                  <a:srgbClr val="43D29F"/>
                </a:solidFill>
                <a:latin typeface="Lato"/>
                <a:ea typeface="Lato"/>
                <a:cs typeface="Lato"/>
              </a:rPr>
              <a:t>Benutzerfreundlichkeit</a:t>
            </a:r>
            <a:endParaRPr sz="2300" b="1" dirty="0">
              <a:solidFill>
                <a:srgbClr val="43D29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6" name="Google Shape;566;p21"/>
          <p:cNvSpPr txBox="1"/>
          <p:nvPr/>
        </p:nvSpPr>
        <p:spPr>
          <a:xfrm>
            <a:off x="1028700" y="768319"/>
            <a:ext cx="9142047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de-DE" sz="4400" dirty="0">
                <a:solidFill>
                  <a:srgbClr val="CCFFA4"/>
                </a:solidFill>
                <a:latin typeface="Rajdhani"/>
                <a:cs typeface="Rajdhani"/>
              </a:rPr>
              <a:t>Effiziente BI mit mehrschichtigem Caching</a:t>
            </a:r>
            <a:endParaRPr sz="44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grpSp>
        <p:nvGrpSpPr>
          <p:cNvPr id="2" name="Google Shape;199;p12">
            <a:extLst>
              <a:ext uri="{FF2B5EF4-FFF2-40B4-BE49-F238E27FC236}">
                <a16:creationId xmlns:a16="http://schemas.microsoft.com/office/drawing/2014/main" id="{6FB5BF3B-5050-9021-F3ED-058CB0427F1B}"/>
              </a:ext>
            </a:extLst>
          </p:cNvPr>
          <p:cNvGrpSpPr/>
          <p:nvPr/>
        </p:nvGrpSpPr>
        <p:grpSpPr>
          <a:xfrm>
            <a:off x="1061490" y="3176999"/>
            <a:ext cx="2347416" cy="2394325"/>
            <a:chOff x="0" y="-9525"/>
            <a:chExt cx="812800" cy="822325"/>
          </a:xfrm>
        </p:grpSpPr>
        <p:sp>
          <p:nvSpPr>
            <p:cNvPr id="3" name="Google Shape;200;p12">
              <a:extLst>
                <a:ext uri="{FF2B5EF4-FFF2-40B4-BE49-F238E27FC236}">
                  <a16:creationId xmlns:a16="http://schemas.microsoft.com/office/drawing/2014/main" id="{1918459D-7803-5066-1BB9-8987F904CB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1;p12">
              <a:extLst>
                <a:ext uri="{FF2B5EF4-FFF2-40B4-BE49-F238E27FC236}">
                  <a16:creationId xmlns:a16="http://schemas.microsoft.com/office/drawing/2014/main" id="{72ECC030-33AC-C6AE-76F8-D3EE5FE61EA8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" name="Textfeld 5">
            <a:extLst>
              <a:ext uri="{FF2B5EF4-FFF2-40B4-BE49-F238E27FC236}">
                <a16:creationId xmlns:a16="http://schemas.microsoft.com/office/drawing/2014/main" id="{B00AA3A0-FD4C-4F60-54EE-77C1AFB32F6E}"/>
              </a:ext>
            </a:extLst>
          </p:cNvPr>
          <p:cNvSpPr txBox="1"/>
          <p:nvPr/>
        </p:nvSpPr>
        <p:spPr>
          <a:xfrm>
            <a:off x="1281560" y="4028446"/>
            <a:ext cx="1907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Balance zwischen Aktualität &amp; Performance</a:t>
            </a:r>
            <a:endParaRPr lang="de-DE" dirty="0"/>
          </a:p>
        </p:txBody>
      </p:sp>
      <p:sp>
        <p:nvSpPr>
          <p:cNvPr id="8" name="Google Shape;200;p12">
            <a:extLst>
              <a:ext uri="{FF2B5EF4-FFF2-40B4-BE49-F238E27FC236}">
                <a16:creationId xmlns:a16="http://schemas.microsoft.com/office/drawing/2014/main" id="{70DC1D1E-7709-42B5-B317-7E52D20F74F4}"/>
              </a:ext>
            </a:extLst>
          </p:cNvPr>
          <p:cNvSpPr/>
          <p:nvPr/>
        </p:nvSpPr>
        <p:spPr>
          <a:xfrm>
            <a:off x="5253307" y="3232465"/>
            <a:ext cx="2347416" cy="236659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3D2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6C011AF-9D7C-C00A-71C9-4B90A772ADFE}"/>
              </a:ext>
            </a:extLst>
          </p:cNvPr>
          <p:cNvSpPr txBox="1"/>
          <p:nvPr/>
        </p:nvSpPr>
        <p:spPr>
          <a:xfrm>
            <a:off x="5473377" y="4056179"/>
            <a:ext cx="1907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Schutz personenbezogener Daten</a:t>
            </a:r>
          </a:p>
        </p:txBody>
      </p:sp>
      <p:sp>
        <p:nvSpPr>
          <p:cNvPr id="12" name="Google Shape;200;p12">
            <a:extLst>
              <a:ext uri="{FF2B5EF4-FFF2-40B4-BE49-F238E27FC236}">
                <a16:creationId xmlns:a16="http://schemas.microsoft.com/office/drawing/2014/main" id="{050BD34A-D1BD-843E-83F4-C293D25B8319}"/>
              </a:ext>
            </a:extLst>
          </p:cNvPr>
          <p:cNvSpPr/>
          <p:nvPr/>
        </p:nvSpPr>
        <p:spPr>
          <a:xfrm>
            <a:off x="1061490" y="6200903"/>
            <a:ext cx="2347416" cy="236659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3D29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4D794EF-E08E-4D68-5A3A-272026173AAF}"/>
              </a:ext>
            </a:extLst>
          </p:cNvPr>
          <p:cNvSpPr txBox="1"/>
          <p:nvPr/>
        </p:nvSpPr>
        <p:spPr>
          <a:xfrm>
            <a:off x="1281560" y="7024617"/>
            <a:ext cx="1907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Datenänderungen berücksichtigen</a:t>
            </a:r>
          </a:p>
        </p:txBody>
      </p:sp>
      <p:grpSp>
        <p:nvGrpSpPr>
          <p:cNvPr id="15" name="Google Shape;199;p12">
            <a:extLst>
              <a:ext uri="{FF2B5EF4-FFF2-40B4-BE49-F238E27FC236}">
                <a16:creationId xmlns:a16="http://schemas.microsoft.com/office/drawing/2014/main" id="{E02074BB-D21F-A561-A497-A1B3F01F367D}"/>
              </a:ext>
            </a:extLst>
          </p:cNvPr>
          <p:cNvGrpSpPr/>
          <p:nvPr/>
        </p:nvGrpSpPr>
        <p:grpSpPr>
          <a:xfrm>
            <a:off x="5253307" y="6200903"/>
            <a:ext cx="2347416" cy="2394325"/>
            <a:chOff x="0" y="-9525"/>
            <a:chExt cx="812800" cy="822325"/>
          </a:xfrm>
        </p:grpSpPr>
        <p:sp>
          <p:nvSpPr>
            <p:cNvPr id="16" name="Google Shape;200;p12">
              <a:extLst>
                <a:ext uri="{FF2B5EF4-FFF2-40B4-BE49-F238E27FC236}">
                  <a16:creationId xmlns:a16="http://schemas.microsoft.com/office/drawing/2014/main" id="{219D500E-8F4D-3724-ED62-5C2FF40CD1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01;p12">
              <a:extLst>
                <a:ext uri="{FF2B5EF4-FFF2-40B4-BE49-F238E27FC236}">
                  <a16:creationId xmlns:a16="http://schemas.microsoft.com/office/drawing/2014/main" id="{E5A36A6F-87A4-FDD6-DDDA-0DBDFE782597}"/>
                </a:ext>
              </a:extLst>
            </p:cNvPr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AB35D380-162D-8455-E9E6-779AF3CD32A5}"/>
              </a:ext>
            </a:extLst>
          </p:cNvPr>
          <p:cNvSpPr txBox="1"/>
          <p:nvPr/>
        </p:nvSpPr>
        <p:spPr>
          <a:xfrm>
            <a:off x="5473377" y="7052350"/>
            <a:ext cx="1907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Performanceprobleme früh erkennen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58" y="623350"/>
            <a:ext cx="8788121" cy="90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4"/>
          <p:cNvSpPr txBox="1"/>
          <p:nvPr/>
        </p:nvSpPr>
        <p:spPr>
          <a:xfrm>
            <a:off x="11067410" y="1902288"/>
            <a:ext cx="6192000" cy="4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5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Microsoft Office PowerPoint</Application>
  <PresentationFormat>Benutzerdefiniert</PresentationFormat>
  <Paragraphs>114</Paragraphs>
  <Slides>15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Rajdhani</vt:lpstr>
      <vt:lpstr>Lato</vt:lpstr>
      <vt:lpstr>Calibri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Client-Side Caching</vt:lpstr>
      <vt:lpstr>Server-Side LRU Cache</vt:lpstr>
      <vt:lpstr>Redis Distributed Cache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Kamal Badawi</dc:creator>
  <cp:lastModifiedBy>Kamal Badawi</cp:lastModifiedBy>
  <cp:revision>54</cp:revision>
  <dcterms:modified xsi:type="dcterms:W3CDTF">2025-12-04T22:00:38Z</dcterms:modified>
</cp:coreProperties>
</file>