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5" r:id="rId1"/>
  </p:sldMasterIdLst>
  <p:notesMasterIdLst>
    <p:notesMasterId r:id="rId30"/>
  </p:notesMasterIdLst>
  <p:sldIdLst>
    <p:sldId id="256" r:id="rId2"/>
    <p:sldId id="257" r:id="rId3"/>
    <p:sldId id="275" r:id="rId4"/>
    <p:sldId id="276" r:id="rId5"/>
    <p:sldId id="258" r:id="rId6"/>
    <p:sldId id="259" r:id="rId7"/>
    <p:sldId id="263" r:id="rId8"/>
    <p:sldId id="296" r:id="rId9"/>
    <p:sldId id="281" r:id="rId10"/>
    <p:sldId id="282" r:id="rId11"/>
    <p:sldId id="283" r:id="rId12"/>
    <p:sldId id="288" r:id="rId13"/>
    <p:sldId id="289" r:id="rId14"/>
    <p:sldId id="269" r:id="rId15"/>
    <p:sldId id="280" r:id="rId16"/>
    <p:sldId id="287" r:id="rId17"/>
    <p:sldId id="290" r:id="rId18"/>
    <p:sldId id="279" r:id="rId19"/>
    <p:sldId id="291" r:id="rId20"/>
    <p:sldId id="292" r:id="rId21"/>
    <p:sldId id="278" r:id="rId22"/>
    <p:sldId id="298" r:id="rId23"/>
    <p:sldId id="299" r:id="rId24"/>
    <p:sldId id="267" r:id="rId25"/>
    <p:sldId id="295" r:id="rId26"/>
    <p:sldId id="277" r:id="rId27"/>
    <p:sldId id="271" r:id="rId28"/>
    <p:sldId id="297" r:id="rId29"/>
  </p:sldIdLst>
  <p:sldSz cx="18288000" cy="10287000"/>
  <p:notesSz cx="6858000" cy="9144000"/>
  <p:embeddedFontLst>
    <p:embeddedFont>
      <p:font typeface="Lato" panose="020F0502020204030203" pitchFamily="34" charset="0"/>
      <p:regular r:id="rId31"/>
      <p:bold r:id="rId32"/>
      <p:italic r:id="rId33"/>
      <p:boldItalic r:id="rId34"/>
    </p:embeddedFont>
    <p:embeddedFont>
      <p:font typeface="Rajdhani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D29F"/>
    <a:srgbClr val="CCFFA4"/>
    <a:srgbClr val="F4F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26DE01-F523-4318-A409-E3855CED85CC}">
  <a:tblStyle styleId="{1C26DE01-F523-4318-A409-E3855CED85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69FDC251-076B-EB07-6ED2-40361F7E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>
            <a:extLst>
              <a:ext uri="{FF2B5EF4-FFF2-40B4-BE49-F238E27FC236}">
                <a16:creationId xmlns:a16="http://schemas.microsoft.com/office/drawing/2014/main" id="{AA03B5D3-62A0-AE00-CB76-4C3A5FAE7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:notes">
            <a:extLst>
              <a:ext uri="{FF2B5EF4-FFF2-40B4-BE49-F238E27FC236}">
                <a16:creationId xmlns:a16="http://schemas.microsoft.com/office/drawing/2014/main" id="{DABAD801-6BA5-50A6-91D6-0340B32B99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9147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94957641-9453-A462-7F12-250540BF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>
            <a:extLst>
              <a:ext uri="{FF2B5EF4-FFF2-40B4-BE49-F238E27FC236}">
                <a16:creationId xmlns:a16="http://schemas.microsoft.com/office/drawing/2014/main" id="{A3047364-9A46-677A-9A00-BAD5DB32C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:notes">
            <a:extLst>
              <a:ext uri="{FF2B5EF4-FFF2-40B4-BE49-F238E27FC236}">
                <a16:creationId xmlns:a16="http://schemas.microsoft.com/office/drawing/2014/main" id="{9A9467B7-48B0-D3C7-7409-8135C0038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4352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14D67517-7993-875B-A624-2EE8A183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>
            <a:extLst>
              <a:ext uri="{FF2B5EF4-FFF2-40B4-BE49-F238E27FC236}">
                <a16:creationId xmlns:a16="http://schemas.microsoft.com/office/drawing/2014/main" id="{272BE199-AC41-1BD9-33E5-D4AEA0DD2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E5B2ABB4-F696-5CFB-5281-98C3B8B0D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5436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>
          <a:extLst>
            <a:ext uri="{FF2B5EF4-FFF2-40B4-BE49-F238E27FC236}">
              <a16:creationId xmlns:a16="http://schemas.microsoft.com/office/drawing/2014/main" id="{DA0441CB-76FD-71D6-E483-72A77F990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>
            <a:extLst>
              <a:ext uri="{FF2B5EF4-FFF2-40B4-BE49-F238E27FC236}">
                <a16:creationId xmlns:a16="http://schemas.microsoft.com/office/drawing/2014/main" id="{11CE07D5-4FFC-65AC-E2C0-36292B4251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2:notes">
            <a:extLst>
              <a:ext uri="{FF2B5EF4-FFF2-40B4-BE49-F238E27FC236}">
                <a16:creationId xmlns:a16="http://schemas.microsoft.com/office/drawing/2014/main" id="{A7B75C90-15B9-B27F-2830-CD83CF861F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5869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653CC018-45C7-213F-5C8D-6C286147D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>
            <a:extLst>
              <a:ext uri="{FF2B5EF4-FFF2-40B4-BE49-F238E27FC236}">
                <a16:creationId xmlns:a16="http://schemas.microsoft.com/office/drawing/2014/main" id="{7C999B67-2DCC-4E73-10BD-7576F3826C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8:notes">
            <a:extLst>
              <a:ext uri="{FF2B5EF4-FFF2-40B4-BE49-F238E27FC236}">
                <a16:creationId xmlns:a16="http://schemas.microsoft.com/office/drawing/2014/main" id="{1BB47F89-782E-310D-8676-E0994098C9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6869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646B18FA-8A38-4CB3-7F3E-FC88C5B6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>
            <a:extLst>
              <a:ext uri="{FF2B5EF4-FFF2-40B4-BE49-F238E27FC236}">
                <a16:creationId xmlns:a16="http://schemas.microsoft.com/office/drawing/2014/main" id="{91DBF2E4-2448-46C9-FDE4-473C29B304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>
            <a:extLst>
              <a:ext uri="{FF2B5EF4-FFF2-40B4-BE49-F238E27FC236}">
                <a16:creationId xmlns:a16="http://schemas.microsoft.com/office/drawing/2014/main" id="{01EDF98D-F616-9AF4-C252-CF6AD15C2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282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81AB6B49-7A4D-BC82-D118-862E5ECE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>
            <a:extLst>
              <a:ext uri="{FF2B5EF4-FFF2-40B4-BE49-F238E27FC236}">
                <a16:creationId xmlns:a16="http://schemas.microsoft.com/office/drawing/2014/main" id="{E36903D4-9642-A999-E608-03AC79DA70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8:notes">
            <a:extLst>
              <a:ext uri="{FF2B5EF4-FFF2-40B4-BE49-F238E27FC236}">
                <a16:creationId xmlns:a16="http://schemas.microsoft.com/office/drawing/2014/main" id="{9718B2B7-969E-472B-5C6A-FBF9B87D20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8510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43178BC4-3B96-0AF4-7001-4205347E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>
            <a:extLst>
              <a:ext uri="{FF2B5EF4-FFF2-40B4-BE49-F238E27FC236}">
                <a16:creationId xmlns:a16="http://schemas.microsoft.com/office/drawing/2014/main" id="{F64C826F-4E4F-AA89-E58A-3D4BE883D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8:notes">
            <a:extLst>
              <a:ext uri="{FF2B5EF4-FFF2-40B4-BE49-F238E27FC236}">
                <a16:creationId xmlns:a16="http://schemas.microsoft.com/office/drawing/2014/main" id="{B74413A7-338B-494B-5EB6-AFF0CF92DB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1600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bg>
      <p:bgPr>
        <a:solidFill>
          <a:srgbClr val="08524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1028700" y="2872125"/>
            <a:ext cx="95796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CFFA4"/>
              </a:buClr>
              <a:buSzPts val="10500"/>
              <a:buFont typeface="Rajdhani"/>
              <a:buNone/>
              <a:defRPr sz="1050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title" idx="2"/>
          </p:nvPr>
        </p:nvSpPr>
        <p:spPr>
          <a:xfrm>
            <a:off x="1028700" y="6136025"/>
            <a:ext cx="95796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0"/>
              <a:buFont typeface="Rajdhani"/>
              <a:buNone/>
              <a:defRPr sz="10500" i="0" u="none" strike="noStrike" cap="none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3"/>
          <p:cNvSpPr/>
          <p:nvPr/>
        </p:nvSpPr>
        <p:spPr>
          <a:xfrm>
            <a:off x="9411612" y="8303699"/>
            <a:ext cx="8439002" cy="1011916"/>
          </a:xfrm>
          <a:custGeom>
            <a:avLst/>
            <a:gdLst/>
            <a:ahLst/>
            <a:cxnLst/>
            <a:rect l="l" t="t" r="r" b="b"/>
            <a:pathLst>
              <a:path w="2222252" h="266469" extrusionOk="0">
                <a:moveTo>
                  <a:pt x="1111126" y="0"/>
                </a:moveTo>
                <a:cubicBezTo>
                  <a:pt x="497468" y="0"/>
                  <a:pt x="0" y="59651"/>
                  <a:pt x="0" y="133235"/>
                </a:cubicBezTo>
                <a:cubicBezTo>
                  <a:pt x="0" y="206818"/>
                  <a:pt x="497468" y="266469"/>
                  <a:pt x="1111126" y="266469"/>
                </a:cubicBezTo>
                <a:cubicBezTo>
                  <a:pt x="1724784" y="266469"/>
                  <a:pt x="2222252" y="206818"/>
                  <a:pt x="2222252" y="133235"/>
                </a:cubicBezTo>
                <a:cubicBezTo>
                  <a:pt x="2222252" y="59651"/>
                  <a:pt x="1724784" y="0"/>
                  <a:pt x="1111126" y="0"/>
                </a:cubicBezTo>
                <a:close/>
              </a:path>
            </a:pathLst>
          </a:custGeom>
          <a:solidFill>
            <a:srgbClr val="0730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r="3437"/>
          <a:stretch/>
        </p:blipFill>
        <p:spPr>
          <a:xfrm>
            <a:off x="8261800" y="1071825"/>
            <a:ext cx="10026200" cy="27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2600" y="3115611"/>
            <a:ext cx="7617423" cy="57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028700" y="691400"/>
            <a:ext cx="4529700" cy="48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3"/>
          </p:nvPr>
        </p:nvSpPr>
        <p:spPr>
          <a:xfrm>
            <a:off x="12880325" y="691400"/>
            <a:ext cx="4529700" cy="48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bg>
      <p:bgPr>
        <a:solidFill>
          <a:srgbClr val="43D29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1" name="Google Shape;31;p5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5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5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5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5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6" name="Google Shape;3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45451" y="330970"/>
            <a:ext cx="12011669" cy="836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5"/>
          <p:cNvGrpSpPr/>
          <p:nvPr/>
        </p:nvGrpSpPr>
        <p:grpSpPr>
          <a:xfrm>
            <a:off x="0" y="6993082"/>
            <a:ext cx="18288118" cy="3294190"/>
            <a:chOff x="0" y="-85725"/>
            <a:chExt cx="4816592" cy="867600"/>
          </a:xfrm>
        </p:grpSpPr>
        <p:sp>
          <p:nvSpPr>
            <p:cNvPr id="38" name="Google Shape;38;p5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9" name="Google Shape;39;p5"/>
            <p:cNvSpPr txBox="1"/>
            <p:nvPr/>
          </p:nvSpPr>
          <p:spPr>
            <a:xfrm>
              <a:off x="0" y="-85725"/>
              <a:ext cx="4816500" cy="86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5"/>
          <p:cNvSpPr txBox="1"/>
          <p:nvPr/>
        </p:nvSpPr>
        <p:spPr>
          <a:xfrm>
            <a:off x="331466" y="7376960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3652333" y="7332355"/>
            <a:ext cx="140499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950"/>
              <a:buNone/>
              <a:defRPr sz="17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1028700" y="605150"/>
            <a:ext cx="168171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5" name="Google Shape;65;p7"/>
          <p:cNvGrpSpPr/>
          <p:nvPr/>
        </p:nvGrpSpPr>
        <p:grpSpPr>
          <a:xfrm>
            <a:off x="2166573" y="2944098"/>
            <a:ext cx="2412329" cy="3043076"/>
            <a:chOff x="0" y="0"/>
            <a:chExt cx="3216439" cy="4057435"/>
          </a:xfrm>
        </p:grpSpPr>
        <p:sp>
          <p:nvSpPr>
            <p:cNvPr id="66" name="Google Shape;66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67" name="Google Shape;67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68" name="Google Shape;68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" name="Google Shape;70;p7"/>
          <p:cNvGrpSpPr/>
          <p:nvPr/>
        </p:nvGrpSpPr>
        <p:grpSpPr>
          <a:xfrm>
            <a:off x="6014081" y="2944098"/>
            <a:ext cx="2412329" cy="3043076"/>
            <a:chOff x="0" y="0"/>
            <a:chExt cx="3216439" cy="4057435"/>
          </a:xfrm>
        </p:grpSpPr>
        <p:sp>
          <p:nvSpPr>
            <p:cNvPr id="71" name="Google Shape;71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72" name="Google Shape;72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73" name="Google Shape;73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" name="Google Shape;75;p7"/>
          <p:cNvGrpSpPr/>
          <p:nvPr/>
        </p:nvGrpSpPr>
        <p:grpSpPr>
          <a:xfrm>
            <a:off x="9861589" y="2944098"/>
            <a:ext cx="2412329" cy="3043076"/>
            <a:chOff x="0" y="0"/>
            <a:chExt cx="3216439" cy="4057435"/>
          </a:xfrm>
        </p:grpSpPr>
        <p:sp>
          <p:nvSpPr>
            <p:cNvPr id="76" name="Google Shape;76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77" name="Google Shape;77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78" name="Google Shape;78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" name="Google Shape;80;p7"/>
          <p:cNvGrpSpPr/>
          <p:nvPr/>
        </p:nvGrpSpPr>
        <p:grpSpPr>
          <a:xfrm>
            <a:off x="13709097" y="2944098"/>
            <a:ext cx="2412329" cy="3043076"/>
            <a:chOff x="0" y="0"/>
            <a:chExt cx="3216439" cy="4057435"/>
          </a:xfrm>
        </p:grpSpPr>
        <p:sp>
          <p:nvSpPr>
            <p:cNvPr id="81" name="Google Shape;81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82" name="Google Shape;82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83" name="Google Shape;83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" name="Google Shape;85;p7"/>
          <p:cNvCxnSpPr/>
          <p:nvPr/>
        </p:nvCxnSpPr>
        <p:spPr>
          <a:xfrm>
            <a:off x="0" y="646513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F5F6F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6" name="Google Shape;86;p7"/>
          <p:cNvGrpSpPr/>
          <p:nvPr/>
        </p:nvGrpSpPr>
        <p:grpSpPr>
          <a:xfrm>
            <a:off x="7017575" y="6278589"/>
            <a:ext cx="405343" cy="410093"/>
            <a:chOff x="0" y="-9525"/>
            <a:chExt cx="812800" cy="822325"/>
          </a:xfrm>
        </p:grpSpPr>
        <p:sp>
          <p:nvSpPr>
            <p:cNvPr id="87" name="Google Shape;87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7"/>
          <p:cNvGrpSpPr/>
          <p:nvPr/>
        </p:nvGrpSpPr>
        <p:grpSpPr>
          <a:xfrm>
            <a:off x="14705308" y="6278589"/>
            <a:ext cx="405343" cy="410093"/>
            <a:chOff x="0" y="-9525"/>
            <a:chExt cx="812800" cy="822325"/>
          </a:xfrm>
        </p:grpSpPr>
        <p:sp>
          <p:nvSpPr>
            <p:cNvPr id="90" name="Google Shape;90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7"/>
          <p:cNvGrpSpPr/>
          <p:nvPr/>
        </p:nvGrpSpPr>
        <p:grpSpPr>
          <a:xfrm>
            <a:off x="10861442" y="6259588"/>
            <a:ext cx="405343" cy="429094"/>
            <a:chOff x="0" y="-47625"/>
            <a:chExt cx="812800" cy="860425"/>
          </a:xfrm>
        </p:grpSpPr>
        <p:sp>
          <p:nvSpPr>
            <p:cNvPr id="93" name="Google Shape;93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7"/>
          <p:cNvGrpSpPr/>
          <p:nvPr/>
        </p:nvGrpSpPr>
        <p:grpSpPr>
          <a:xfrm>
            <a:off x="3170068" y="6259588"/>
            <a:ext cx="405343" cy="429094"/>
            <a:chOff x="0" y="-47625"/>
            <a:chExt cx="812800" cy="860425"/>
          </a:xfrm>
        </p:grpSpPr>
        <p:sp>
          <p:nvSpPr>
            <p:cNvPr id="96" name="Google Shape;9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7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4125" y="3505584"/>
            <a:ext cx="1404250" cy="151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3207" y="3519677"/>
            <a:ext cx="1404250" cy="143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65625" y="3577545"/>
            <a:ext cx="1404250" cy="1366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126200" y="3515075"/>
            <a:ext cx="1496049" cy="15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 txBox="1">
            <a:spLocks noGrp="1"/>
          </p:cNvSpPr>
          <p:nvPr>
            <p:ph type="subTitle" idx="1"/>
          </p:nvPr>
        </p:nvSpPr>
        <p:spPr>
          <a:xfrm>
            <a:off x="1891500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body" idx="2"/>
          </p:nvPr>
        </p:nvSpPr>
        <p:spPr>
          <a:xfrm>
            <a:off x="1783800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subTitle" idx="3"/>
          </p:nvPr>
        </p:nvSpPr>
        <p:spPr>
          <a:xfrm>
            <a:off x="5755488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body" idx="4"/>
          </p:nvPr>
        </p:nvSpPr>
        <p:spPr>
          <a:xfrm>
            <a:off x="5647788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7"/>
          <p:cNvSpPr txBox="1">
            <a:spLocks noGrp="1"/>
          </p:cNvSpPr>
          <p:nvPr>
            <p:ph type="subTitle" idx="5"/>
          </p:nvPr>
        </p:nvSpPr>
        <p:spPr>
          <a:xfrm>
            <a:off x="9599350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6"/>
          </p:nvPr>
        </p:nvSpPr>
        <p:spPr>
          <a:xfrm>
            <a:off x="9491650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7"/>
          <p:cNvSpPr txBox="1">
            <a:spLocks noGrp="1"/>
          </p:cNvSpPr>
          <p:nvPr>
            <p:ph type="subTitle" idx="7"/>
          </p:nvPr>
        </p:nvSpPr>
        <p:spPr>
          <a:xfrm>
            <a:off x="13409475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body" idx="8"/>
          </p:nvPr>
        </p:nvSpPr>
        <p:spPr>
          <a:xfrm>
            <a:off x="13301775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10600" y="274650"/>
            <a:ext cx="17266800" cy="1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CCFFA4"/>
              </a:buClr>
              <a:buSzPts val="10500"/>
              <a:buFont typeface="Rajdhani"/>
              <a:buNone/>
              <a:defRPr sz="1050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25049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ctr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ctr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–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ctr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–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»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9411612" y="8303699"/>
            <a:ext cx="8437612" cy="1011751"/>
          </a:xfrm>
          <a:custGeom>
            <a:avLst/>
            <a:gdLst/>
            <a:ahLst/>
            <a:cxnLst/>
            <a:rect l="l" t="t" r="r" b="b"/>
            <a:pathLst>
              <a:path w="2222252" h="266469" extrusionOk="0">
                <a:moveTo>
                  <a:pt x="1111126" y="0"/>
                </a:moveTo>
                <a:cubicBezTo>
                  <a:pt x="497468" y="0"/>
                  <a:pt x="0" y="59651"/>
                  <a:pt x="0" y="133235"/>
                </a:cubicBezTo>
                <a:cubicBezTo>
                  <a:pt x="0" y="206818"/>
                  <a:pt x="497468" y="266469"/>
                  <a:pt x="1111126" y="266469"/>
                </a:cubicBezTo>
                <a:cubicBezTo>
                  <a:pt x="1724784" y="266469"/>
                  <a:pt x="2222252" y="206818"/>
                  <a:pt x="2222252" y="133235"/>
                </a:cubicBezTo>
                <a:cubicBezTo>
                  <a:pt x="2222252" y="59651"/>
                  <a:pt x="1724784" y="0"/>
                  <a:pt x="1111126" y="0"/>
                </a:cubicBezTo>
                <a:close/>
              </a:path>
            </a:pathLst>
          </a:custGeom>
          <a:solidFill>
            <a:srgbClr val="0730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9"/>
          <p:cNvPicPr preferRelativeResize="0"/>
          <p:nvPr/>
        </p:nvPicPr>
        <p:blipFill rotWithShape="1">
          <a:blip r:embed="rId3">
            <a:alphaModFix/>
          </a:blip>
          <a:srcRect r="3437"/>
          <a:stretch/>
        </p:blipFill>
        <p:spPr>
          <a:xfrm>
            <a:off x="8261800" y="160635"/>
            <a:ext cx="10026200" cy="27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92600" y="3115611"/>
            <a:ext cx="7617423" cy="57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/>
        </p:nvSpPr>
        <p:spPr>
          <a:xfrm>
            <a:off x="1028700" y="2959960"/>
            <a:ext cx="9466428" cy="1495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600" dirty="0">
                <a:solidFill>
                  <a:srgbClr val="FFFFFF"/>
                </a:solidFill>
                <a:latin typeface="Rajdhani"/>
                <a:cs typeface="Rajdhani"/>
              </a:rPr>
              <a:t>Caching verstehen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55" name="Google Shape;155;p9"/>
          <p:cNvSpPr txBox="1"/>
          <p:nvPr/>
        </p:nvSpPr>
        <p:spPr>
          <a:xfrm>
            <a:off x="1028700" y="4938642"/>
            <a:ext cx="889322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6000" dirty="0">
                <a:solidFill>
                  <a:srgbClr val="CCFFA4"/>
                </a:solidFill>
                <a:latin typeface="Rajdhani"/>
                <a:cs typeface="Rajdhani"/>
              </a:rPr>
              <a:t>Schneller, effizienter, sicher</a:t>
            </a:r>
          </a:p>
        </p:txBody>
      </p:sp>
      <p:sp>
        <p:nvSpPr>
          <p:cNvPr id="2" name="Google Shape;155;p9">
            <a:extLst>
              <a:ext uri="{FF2B5EF4-FFF2-40B4-BE49-F238E27FC236}">
                <a16:creationId xmlns:a16="http://schemas.microsoft.com/office/drawing/2014/main" id="{178A57B9-2F68-8DB5-319A-9F5C8A7AD2FD}"/>
              </a:ext>
            </a:extLst>
          </p:cNvPr>
          <p:cNvSpPr txBox="1"/>
          <p:nvPr/>
        </p:nvSpPr>
        <p:spPr>
          <a:xfrm>
            <a:off x="1028700" y="9747437"/>
            <a:ext cx="275173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Torsten Steinmüller</a:t>
            </a:r>
            <a:endParaRPr sz="24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3" name="Google Shape;155;p9">
            <a:extLst>
              <a:ext uri="{FF2B5EF4-FFF2-40B4-BE49-F238E27FC236}">
                <a16:creationId xmlns:a16="http://schemas.microsoft.com/office/drawing/2014/main" id="{B2CBF5A3-EEAB-5BF6-DE7D-B6D9EE373371}"/>
              </a:ext>
            </a:extLst>
          </p:cNvPr>
          <p:cNvSpPr txBox="1"/>
          <p:nvPr/>
        </p:nvSpPr>
        <p:spPr>
          <a:xfrm>
            <a:off x="13893421" y="9747436"/>
            <a:ext cx="378270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Kamal Badawi – 5236028</a:t>
            </a:r>
            <a:endParaRPr sz="24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4" name="Google Shape;155;p9">
            <a:extLst>
              <a:ext uri="{FF2B5EF4-FFF2-40B4-BE49-F238E27FC236}">
                <a16:creationId xmlns:a16="http://schemas.microsoft.com/office/drawing/2014/main" id="{D05C64BF-F848-0BC7-BB08-05F1C339F8A9}"/>
              </a:ext>
            </a:extLst>
          </p:cNvPr>
          <p:cNvSpPr txBox="1"/>
          <p:nvPr/>
        </p:nvSpPr>
        <p:spPr>
          <a:xfrm>
            <a:off x="7252648" y="9747435"/>
            <a:ext cx="378270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26. Januar 2026</a:t>
            </a:r>
            <a:endParaRPr sz="24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0"/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3373928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62384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/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9450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61" y="4162663"/>
            <a:ext cx="8428751" cy="59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/>
        </p:nvSpPr>
        <p:spPr>
          <a:xfrm>
            <a:off x="1257099" y="800136"/>
            <a:ext cx="7176900" cy="3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65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TABLE OF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65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CONTENTS</a:t>
            </a:r>
            <a:endParaRPr dirty="0"/>
          </a:p>
        </p:txBody>
      </p:sp>
      <p:sp>
        <p:nvSpPr>
          <p:cNvPr id="167" name="Google Shape;167;p10"/>
          <p:cNvSpPr txBox="1"/>
          <p:nvPr/>
        </p:nvSpPr>
        <p:spPr>
          <a:xfrm>
            <a:off x="10761342" y="126361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10761342" y="394713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10761342" y="6836829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12678653" y="1488914"/>
            <a:ext cx="48438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err="1">
                <a:solidFill>
                  <a:srgbClr val="43D29F"/>
                </a:solidFill>
                <a:latin typeface="Rajdhani"/>
                <a:cs typeface="Rajdhani"/>
                <a:sym typeface="Lato"/>
              </a:rPr>
              <a:t>Einleitung</a:t>
            </a:r>
            <a:endParaRPr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12678654" y="4172434"/>
            <a:ext cx="562231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Ziele des </a:t>
            </a:r>
            <a:r>
              <a:rPr lang="de-DE" sz="5400" dirty="0" err="1">
                <a:solidFill>
                  <a:srgbClr val="43D29F"/>
                </a:solidFill>
                <a:latin typeface="Rajdhani"/>
                <a:cs typeface="Rajdhani"/>
              </a:rPr>
              <a:t>Cachings</a:t>
            </a:r>
            <a:endParaRPr lang="de-DE"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12678653" y="7073458"/>
            <a:ext cx="577311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Architekturebenen</a:t>
            </a:r>
            <a:endParaRPr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61">
          <a:extLst>
            <a:ext uri="{FF2B5EF4-FFF2-40B4-BE49-F238E27FC236}">
              <a16:creationId xmlns:a16="http://schemas.microsoft.com/office/drawing/2014/main" id="{62BBCE60-BE67-EBFD-872F-6AD043FCC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0">
            <a:extLst>
              <a:ext uri="{FF2B5EF4-FFF2-40B4-BE49-F238E27FC236}">
                <a16:creationId xmlns:a16="http://schemas.microsoft.com/office/drawing/2014/main" id="{AFB792FC-F994-7EE7-883A-ECC4769BCA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3373928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>
            <a:extLst>
              <a:ext uri="{FF2B5EF4-FFF2-40B4-BE49-F238E27FC236}">
                <a16:creationId xmlns:a16="http://schemas.microsoft.com/office/drawing/2014/main" id="{A4EEA8D8-E894-634E-79B5-296783217C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62384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>
            <a:extLst>
              <a:ext uri="{FF2B5EF4-FFF2-40B4-BE49-F238E27FC236}">
                <a16:creationId xmlns:a16="http://schemas.microsoft.com/office/drawing/2014/main" id="{A361A475-C8E9-6CA7-236C-C2C060957B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9450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>
            <a:extLst>
              <a:ext uri="{FF2B5EF4-FFF2-40B4-BE49-F238E27FC236}">
                <a16:creationId xmlns:a16="http://schemas.microsoft.com/office/drawing/2014/main" id="{3B67126B-0688-EE3C-2C10-DF7BF26564E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61" y="4162663"/>
            <a:ext cx="8428751" cy="59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>
            <a:extLst>
              <a:ext uri="{FF2B5EF4-FFF2-40B4-BE49-F238E27FC236}">
                <a16:creationId xmlns:a16="http://schemas.microsoft.com/office/drawing/2014/main" id="{00E5DB1D-2114-C035-30E3-7F9653B55A88}"/>
              </a:ext>
            </a:extLst>
          </p:cNvPr>
          <p:cNvSpPr txBox="1"/>
          <p:nvPr/>
        </p:nvSpPr>
        <p:spPr>
          <a:xfrm>
            <a:off x="1257099" y="800136"/>
            <a:ext cx="7176900" cy="3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65" b="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TABLE OF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65" b="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CONTENTS</a:t>
            </a:r>
            <a:endParaRPr/>
          </a:p>
        </p:txBody>
      </p:sp>
      <p:sp>
        <p:nvSpPr>
          <p:cNvPr id="167" name="Google Shape;167;p10">
            <a:extLst>
              <a:ext uri="{FF2B5EF4-FFF2-40B4-BE49-F238E27FC236}">
                <a16:creationId xmlns:a16="http://schemas.microsoft.com/office/drawing/2014/main" id="{4424C8E1-998D-773C-1B5D-C069BD62CC62}"/>
              </a:ext>
            </a:extLst>
          </p:cNvPr>
          <p:cNvSpPr txBox="1"/>
          <p:nvPr/>
        </p:nvSpPr>
        <p:spPr>
          <a:xfrm>
            <a:off x="10761342" y="1263612"/>
            <a:ext cx="1701000" cy="175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 dirty="0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04</a:t>
            </a:r>
            <a:endParaRPr dirty="0"/>
          </a:p>
        </p:txBody>
      </p:sp>
      <p:sp>
        <p:nvSpPr>
          <p:cNvPr id="168" name="Google Shape;168;p10">
            <a:extLst>
              <a:ext uri="{FF2B5EF4-FFF2-40B4-BE49-F238E27FC236}">
                <a16:creationId xmlns:a16="http://schemas.microsoft.com/office/drawing/2014/main" id="{E315B576-0118-62D3-079D-788BDE3CB77E}"/>
              </a:ext>
            </a:extLst>
          </p:cNvPr>
          <p:cNvSpPr txBox="1"/>
          <p:nvPr/>
        </p:nvSpPr>
        <p:spPr>
          <a:xfrm>
            <a:off x="10761342" y="3947132"/>
            <a:ext cx="1701000" cy="175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 dirty="0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05</a:t>
            </a:r>
            <a:endParaRPr dirty="0"/>
          </a:p>
        </p:txBody>
      </p:sp>
      <p:sp>
        <p:nvSpPr>
          <p:cNvPr id="169" name="Google Shape;169;p10">
            <a:extLst>
              <a:ext uri="{FF2B5EF4-FFF2-40B4-BE49-F238E27FC236}">
                <a16:creationId xmlns:a16="http://schemas.microsoft.com/office/drawing/2014/main" id="{AE9D361C-B39E-C4D8-F432-1D6EC76F8DBF}"/>
              </a:ext>
            </a:extLst>
          </p:cNvPr>
          <p:cNvSpPr txBox="1"/>
          <p:nvPr/>
        </p:nvSpPr>
        <p:spPr>
          <a:xfrm>
            <a:off x="10761342" y="6836829"/>
            <a:ext cx="1701000" cy="175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 dirty="0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06</a:t>
            </a:r>
            <a:endParaRPr dirty="0"/>
          </a:p>
        </p:txBody>
      </p:sp>
      <p:sp>
        <p:nvSpPr>
          <p:cNvPr id="170" name="Google Shape;170;p10">
            <a:extLst>
              <a:ext uri="{FF2B5EF4-FFF2-40B4-BE49-F238E27FC236}">
                <a16:creationId xmlns:a16="http://schemas.microsoft.com/office/drawing/2014/main" id="{21EC4D6B-76ED-AB41-E11C-40F97A933A4F}"/>
              </a:ext>
            </a:extLst>
          </p:cNvPr>
          <p:cNvSpPr txBox="1"/>
          <p:nvPr/>
        </p:nvSpPr>
        <p:spPr>
          <a:xfrm>
            <a:off x="12678652" y="1488914"/>
            <a:ext cx="5609347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Herausforderungen</a:t>
            </a:r>
            <a:endParaRPr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  <p:sp>
        <p:nvSpPr>
          <p:cNvPr id="171" name="Google Shape;171;p10">
            <a:extLst>
              <a:ext uri="{FF2B5EF4-FFF2-40B4-BE49-F238E27FC236}">
                <a16:creationId xmlns:a16="http://schemas.microsoft.com/office/drawing/2014/main" id="{86AAB57E-FF38-FB10-CDF6-04120E861C5B}"/>
              </a:ext>
            </a:extLst>
          </p:cNvPr>
          <p:cNvSpPr txBox="1"/>
          <p:nvPr/>
        </p:nvSpPr>
        <p:spPr>
          <a:xfrm>
            <a:off x="12678654" y="4172434"/>
            <a:ext cx="562231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Best Practices</a:t>
            </a:r>
          </a:p>
        </p:txBody>
      </p:sp>
      <p:sp>
        <p:nvSpPr>
          <p:cNvPr id="172" name="Google Shape;172;p10">
            <a:extLst>
              <a:ext uri="{FF2B5EF4-FFF2-40B4-BE49-F238E27FC236}">
                <a16:creationId xmlns:a16="http://schemas.microsoft.com/office/drawing/2014/main" id="{2D2F9D50-760C-9885-45F1-25028E158B75}"/>
              </a:ext>
            </a:extLst>
          </p:cNvPr>
          <p:cNvSpPr txBox="1"/>
          <p:nvPr/>
        </p:nvSpPr>
        <p:spPr>
          <a:xfrm>
            <a:off x="12678653" y="7073458"/>
            <a:ext cx="577311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Demo</a:t>
            </a:r>
            <a:endParaRPr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</p:spTree>
    <p:extLst>
      <p:ext uri="{BB962C8B-B14F-4D97-AF65-F5344CB8AC3E}">
        <p14:creationId xmlns:p14="http://schemas.microsoft.com/office/powerpoint/2010/main" val="1924702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61">
          <a:extLst>
            <a:ext uri="{FF2B5EF4-FFF2-40B4-BE49-F238E27FC236}">
              <a16:creationId xmlns:a16="http://schemas.microsoft.com/office/drawing/2014/main" id="{426F58B4-B5F7-47DA-E197-DC79E083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0">
            <a:extLst>
              <a:ext uri="{FF2B5EF4-FFF2-40B4-BE49-F238E27FC236}">
                <a16:creationId xmlns:a16="http://schemas.microsoft.com/office/drawing/2014/main" id="{07ADA0BE-9EBF-39A8-8591-C7ED538E5E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3373928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>
            <a:extLst>
              <a:ext uri="{FF2B5EF4-FFF2-40B4-BE49-F238E27FC236}">
                <a16:creationId xmlns:a16="http://schemas.microsoft.com/office/drawing/2014/main" id="{73A5A5BA-E820-F296-1E5A-9E735CDD32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9450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>
            <a:extLst>
              <a:ext uri="{FF2B5EF4-FFF2-40B4-BE49-F238E27FC236}">
                <a16:creationId xmlns:a16="http://schemas.microsoft.com/office/drawing/2014/main" id="{54E1242A-0D99-F536-E140-08C95F90BDB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61" y="4162663"/>
            <a:ext cx="8428751" cy="59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>
            <a:extLst>
              <a:ext uri="{FF2B5EF4-FFF2-40B4-BE49-F238E27FC236}">
                <a16:creationId xmlns:a16="http://schemas.microsoft.com/office/drawing/2014/main" id="{CF3D3D49-C808-35CD-A235-E9B8CB407029}"/>
              </a:ext>
            </a:extLst>
          </p:cNvPr>
          <p:cNvSpPr txBox="1"/>
          <p:nvPr/>
        </p:nvSpPr>
        <p:spPr>
          <a:xfrm>
            <a:off x="1257099" y="800136"/>
            <a:ext cx="7176900" cy="3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65" b="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TABLE OF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65" b="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CONTENTS</a:t>
            </a:r>
            <a:endParaRPr/>
          </a:p>
        </p:txBody>
      </p:sp>
      <p:sp>
        <p:nvSpPr>
          <p:cNvPr id="167" name="Google Shape;167;p10">
            <a:extLst>
              <a:ext uri="{FF2B5EF4-FFF2-40B4-BE49-F238E27FC236}">
                <a16:creationId xmlns:a16="http://schemas.microsoft.com/office/drawing/2014/main" id="{CD251C8E-88B6-31EB-907C-14341F49D37E}"/>
              </a:ext>
            </a:extLst>
          </p:cNvPr>
          <p:cNvSpPr txBox="1"/>
          <p:nvPr/>
        </p:nvSpPr>
        <p:spPr>
          <a:xfrm>
            <a:off x="10761342" y="1263612"/>
            <a:ext cx="1701000" cy="175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 dirty="0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07</a:t>
            </a:r>
            <a:endParaRPr dirty="0"/>
          </a:p>
        </p:txBody>
      </p:sp>
      <p:sp>
        <p:nvSpPr>
          <p:cNvPr id="168" name="Google Shape;168;p10">
            <a:extLst>
              <a:ext uri="{FF2B5EF4-FFF2-40B4-BE49-F238E27FC236}">
                <a16:creationId xmlns:a16="http://schemas.microsoft.com/office/drawing/2014/main" id="{AC19DA70-21F5-D145-41D2-0371863BE65C}"/>
              </a:ext>
            </a:extLst>
          </p:cNvPr>
          <p:cNvSpPr txBox="1"/>
          <p:nvPr/>
        </p:nvSpPr>
        <p:spPr>
          <a:xfrm>
            <a:off x="10761342" y="3947132"/>
            <a:ext cx="1701000" cy="175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 dirty="0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08</a:t>
            </a:r>
            <a:endParaRPr dirty="0"/>
          </a:p>
        </p:txBody>
      </p:sp>
      <p:sp>
        <p:nvSpPr>
          <p:cNvPr id="169" name="Google Shape;169;p10">
            <a:extLst>
              <a:ext uri="{FF2B5EF4-FFF2-40B4-BE49-F238E27FC236}">
                <a16:creationId xmlns:a16="http://schemas.microsoft.com/office/drawing/2014/main" id="{64999ADA-B51B-4BC1-CDD2-BD536851C600}"/>
              </a:ext>
            </a:extLst>
          </p:cNvPr>
          <p:cNvSpPr txBox="1"/>
          <p:nvPr/>
        </p:nvSpPr>
        <p:spPr>
          <a:xfrm>
            <a:off x="10761342" y="6836829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/>
          </a:p>
        </p:txBody>
      </p:sp>
      <p:sp>
        <p:nvSpPr>
          <p:cNvPr id="170" name="Google Shape;170;p10">
            <a:extLst>
              <a:ext uri="{FF2B5EF4-FFF2-40B4-BE49-F238E27FC236}">
                <a16:creationId xmlns:a16="http://schemas.microsoft.com/office/drawing/2014/main" id="{F8B890AE-9DBD-08AD-D48A-FA48BAF809AC}"/>
              </a:ext>
            </a:extLst>
          </p:cNvPr>
          <p:cNvSpPr txBox="1"/>
          <p:nvPr/>
        </p:nvSpPr>
        <p:spPr>
          <a:xfrm>
            <a:off x="12678653" y="1488914"/>
            <a:ext cx="48438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err="1">
                <a:solidFill>
                  <a:srgbClr val="43D29F"/>
                </a:solidFill>
                <a:latin typeface="Rajdhani"/>
                <a:cs typeface="Rajdhani"/>
                <a:sym typeface="Lato"/>
              </a:rPr>
              <a:t>Fazit</a:t>
            </a:r>
            <a:endParaRPr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  <p:sp>
        <p:nvSpPr>
          <p:cNvPr id="171" name="Google Shape;171;p10">
            <a:extLst>
              <a:ext uri="{FF2B5EF4-FFF2-40B4-BE49-F238E27FC236}">
                <a16:creationId xmlns:a16="http://schemas.microsoft.com/office/drawing/2014/main" id="{BFC7F1D7-61BF-CDD4-E495-59FA4F3AF946}"/>
              </a:ext>
            </a:extLst>
          </p:cNvPr>
          <p:cNvSpPr txBox="1"/>
          <p:nvPr/>
        </p:nvSpPr>
        <p:spPr>
          <a:xfrm>
            <a:off x="12678654" y="4172434"/>
            <a:ext cx="562231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30551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1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178" name="Google Shape;178;p11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11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11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11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1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83" name="Google Shape;18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451" y="330970"/>
            <a:ext cx="12011669" cy="836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1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185" name="Google Shape;185;p11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186" name="Google Shape;186;p11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1"/>
          <p:cNvSpPr txBox="1"/>
          <p:nvPr/>
        </p:nvSpPr>
        <p:spPr>
          <a:xfrm>
            <a:off x="331466" y="7376960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3562466" y="8248399"/>
            <a:ext cx="14394000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 err="1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Einleitung</a:t>
            </a:r>
            <a:endParaRPr sz="9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12"/>
          <p:cNvGrpSpPr/>
          <p:nvPr/>
        </p:nvGrpSpPr>
        <p:grpSpPr>
          <a:xfrm>
            <a:off x="2789261" y="4214368"/>
            <a:ext cx="4353298" cy="4375730"/>
            <a:chOff x="0" y="-9525"/>
            <a:chExt cx="812800" cy="822325"/>
          </a:xfrm>
        </p:grpSpPr>
        <p:sp>
          <p:nvSpPr>
            <p:cNvPr id="200" name="Google Shape;200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2"/>
          <p:cNvGrpSpPr/>
          <p:nvPr/>
        </p:nvGrpSpPr>
        <p:grpSpPr>
          <a:xfrm>
            <a:off x="2893663" y="3957851"/>
            <a:ext cx="4530719" cy="4430319"/>
            <a:chOff x="0" y="39223"/>
            <a:chExt cx="848474" cy="773577"/>
          </a:xfrm>
        </p:grpSpPr>
        <p:sp>
          <p:nvSpPr>
            <p:cNvPr id="203" name="Google Shape;203;p12"/>
            <p:cNvSpPr/>
            <p:nvPr/>
          </p:nvSpPr>
          <p:spPr>
            <a:xfrm>
              <a:off x="0" y="39223"/>
              <a:ext cx="848474" cy="773577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 txBox="1"/>
            <p:nvPr/>
          </p:nvSpPr>
          <p:spPr>
            <a:xfrm>
              <a:off x="76200" y="85065"/>
              <a:ext cx="640907" cy="651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2"/>
          <p:cNvSpPr txBox="1"/>
          <p:nvPr/>
        </p:nvSpPr>
        <p:spPr>
          <a:xfrm>
            <a:off x="3642055" y="5826397"/>
            <a:ext cx="2846309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Temporäre Zwischenspeicherung ressourcenintensiver Ergebnisse</a:t>
            </a:r>
            <a:endParaRPr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4053262" y="5084629"/>
            <a:ext cx="2023896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400" b="1" dirty="0">
                <a:solidFill>
                  <a:schemeClr val="tx1"/>
                </a:solidFill>
                <a:latin typeface="Rajdhani"/>
                <a:cs typeface="Rajdhani"/>
              </a:rPr>
              <a:t>Definition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028700" y="634969"/>
            <a:ext cx="11933913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Definition – </a:t>
            </a:r>
            <a:r>
              <a:rPr lang="en-US" sz="6600" dirty="0" err="1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Analogie</a:t>
            </a:r>
            <a:endParaRPr sz="6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pic>
        <p:nvPicPr>
          <p:cNvPr id="211" name="Google Shape;21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5774" y="4234053"/>
            <a:ext cx="637224" cy="84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91530" y="139794"/>
            <a:ext cx="3227981" cy="34888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199;p12">
            <a:extLst>
              <a:ext uri="{FF2B5EF4-FFF2-40B4-BE49-F238E27FC236}">
                <a16:creationId xmlns:a16="http://schemas.microsoft.com/office/drawing/2014/main" id="{2C372EB6-9AA1-759F-5DA0-3FBC173C59C0}"/>
              </a:ext>
            </a:extLst>
          </p:cNvPr>
          <p:cNvGrpSpPr/>
          <p:nvPr/>
        </p:nvGrpSpPr>
        <p:grpSpPr>
          <a:xfrm>
            <a:off x="8626388" y="4194023"/>
            <a:ext cx="4353298" cy="4375730"/>
            <a:chOff x="0" y="-9525"/>
            <a:chExt cx="812800" cy="822325"/>
          </a:xfrm>
        </p:grpSpPr>
        <p:sp>
          <p:nvSpPr>
            <p:cNvPr id="6" name="Google Shape;200;p12">
              <a:extLst>
                <a:ext uri="{FF2B5EF4-FFF2-40B4-BE49-F238E27FC236}">
                  <a16:creationId xmlns:a16="http://schemas.microsoft.com/office/drawing/2014/main" id="{866F973B-1D7A-06A0-860F-8E6EA1A824B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01;p12">
              <a:extLst>
                <a:ext uri="{FF2B5EF4-FFF2-40B4-BE49-F238E27FC236}">
                  <a16:creationId xmlns:a16="http://schemas.microsoft.com/office/drawing/2014/main" id="{C65F70C2-38A1-E548-472C-21557D4D9786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202;p12">
            <a:extLst>
              <a:ext uri="{FF2B5EF4-FFF2-40B4-BE49-F238E27FC236}">
                <a16:creationId xmlns:a16="http://schemas.microsoft.com/office/drawing/2014/main" id="{4E7E6D74-90C2-753E-FCFE-3B25C262D781}"/>
              </a:ext>
            </a:extLst>
          </p:cNvPr>
          <p:cNvGrpSpPr/>
          <p:nvPr/>
        </p:nvGrpSpPr>
        <p:grpSpPr>
          <a:xfrm>
            <a:off x="8730790" y="3937506"/>
            <a:ext cx="4530719" cy="4430319"/>
            <a:chOff x="0" y="39223"/>
            <a:chExt cx="848474" cy="773577"/>
          </a:xfrm>
        </p:grpSpPr>
        <p:sp>
          <p:nvSpPr>
            <p:cNvPr id="9" name="Google Shape;203;p12">
              <a:extLst>
                <a:ext uri="{FF2B5EF4-FFF2-40B4-BE49-F238E27FC236}">
                  <a16:creationId xmlns:a16="http://schemas.microsoft.com/office/drawing/2014/main" id="{13BF890E-FF79-C0DF-249A-DFF9088E9CF8}"/>
                </a:ext>
              </a:extLst>
            </p:cNvPr>
            <p:cNvSpPr/>
            <p:nvPr/>
          </p:nvSpPr>
          <p:spPr>
            <a:xfrm>
              <a:off x="0" y="39223"/>
              <a:ext cx="848474" cy="773577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4;p12">
              <a:extLst>
                <a:ext uri="{FF2B5EF4-FFF2-40B4-BE49-F238E27FC236}">
                  <a16:creationId xmlns:a16="http://schemas.microsoft.com/office/drawing/2014/main" id="{A3C0964B-0E1A-10A0-CDF9-878C19F6727D}"/>
                </a:ext>
              </a:extLst>
            </p:cNvPr>
            <p:cNvSpPr txBox="1"/>
            <p:nvPr/>
          </p:nvSpPr>
          <p:spPr>
            <a:xfrm>
              <a:off x="76200" y="85065"/>
              <a:ext cx="640907" cy="651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" name="Google Shape;206;p12">
            <a:extLst>
              <a:ext uri="{FF2B5EF4-FFF2-40B4-BE49-F238E27FC236}">
                <a16:creationId xmlns:a16="http://schemas.microsoft.com/office/drawing/2014/main" id="{D2CB3B54-6647-5374-EA58-B14D2EBA2DCF}"/>
              </a:ext>
            </a:extLst>
          </p:cNvPr>
          <p:cNvSpPr txBox="1"/>
          <p:nvPr/>
        </p:nvSpPr>
        <p:spPr>
          <a:xfrm>
            <a:off x="9126151" y="5806052"/>
            <a:ext cx="3749133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Regionallagerprinzip: schneller zum Kunden, weniger Belastung für die Zentrale – so funktioniert Caching.</a:t>
            </a:r>
          </a:p>
        </p:txBody>
      </p:sp>
      <p:sp>
        <p:nvSpPr>
          <p:cNvPr id="12" name="Google Shape;208;p12">
            <a:extLst>
              <a:ext uri="{FF2B5EF4-FFF2-40B4-BE49-F238E27FC236}">
                <a16:creationId xmlns:a16="http://schemas.microsoft.com/office/drawing/2014/main" id="{400AA5AC-C226-6AF4-8513-7D269972A1A8}"/>
              </a:ext>
            </a:extLst>
          </p:cNvPr>
          <p:cNvSpPr txBox="1"/>
          <p:nvPr/>
        </p:nvSpPr>
        <p:spPr>
          <a:xfrm>
            <a:off x="9890389" y="5064284"/>
            <a:ext cx="2023896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400" b="1" dirty="0">
                <a:solidFill>
                  <a:schemeClr val="tx1"/>
                </a:solidFill>
                <a:latin typeface="Rajdhani"/>
                <a:cs typeface="Rajdhani"/>
              </a:rPr>
              <a:t>Analogie</a:t>
            </a:r>
          </a:p>
        </p:txBody>
      </p:sp>
      <p:pic>
        <p:nvPicPr>
          <p:cNvPr id="14" name="Google Shape;260;p13">
            <a:extLst>
              <a:ext uri="{FF2B5EF4-FFF2-40B4-BE49-F238E27FC236}">
                <a16:creationId xmlns:a16="http://schemas.microsoft.com/office/drawing/2014/main" id="{114AF540-54B4-A509-3945-BEB58C6EDF8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71655" y="4393621"/>
            <a:ext cx="448987" cy="566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60;p13">
            <a:extLst>
              <a:ext uri="{FF2B5EF4-FFF2-40B4-BE49-F238E27FC236}">
                <a16:creationId xmlns:a16="http://schemas.microsoft.com/office/drawing/2014/main" id="{0381A200-B0B3-E648-2FE2-238666F994C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70800" y="4737605"/>
            <a:ext cx="448987" cy="566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6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26" name="Google Shape;326;p16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16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16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16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16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31" name="Google Shape;3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475" y="242546"/>
            <a:ext cx="11296899" cy="9215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6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333" name="Google Shape;333;p16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34" name="Google Shape;334;p16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6"/>
          <p:cNvSpPr txBox="1"/>
          <p:nvPr/>
        </p:nvSpPr>
        <p:spPr>
          <a:xfrm>
            <a:off x="331466" y="7282364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4983412" y="8189029"/>
            <a:ext cx="12158176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Ziele des </a:t>
            </a:r>
            <a:r>
              <a:rPr lang="de-DE" sz="9600" dirty="0" err="1">
                <a:solidFill>
                  <a:srgbClr val="CCFFA4"/>
                </a:solidFill>
                <a:latin typeface="Rajdhani"/>
                <a:cs typeface="Rajdhani"/>
              </a:rPr>
              <a:t>Cachings</a:t>
            </a:r>
            <a:endParaRPr lang="de-DE" sz="9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96B67-4E24-A549-160B-2E16A70EF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2DF9AB07-06FB-D448-7849-0A1806D12FD0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Nutzen &amp; Wirkung</a:t>
            </a:r>
          </a:p>
        </p:txBody>
      </p:sp>
      <p:sp>
        <p:nvSpPr>
          <p:cNvPr id="7" name="Google Shape;268;p14">
            <a:extLst>
              <a:ext uri="{FF2B5EF4-FFF2-40B4-BE49-F238E27FC236}">
                <a16:creationId xmlns:a16="http://schemas.microsoft.com/office/drawing/2014/main" id="{45F27CC6-682B-F3D9-F181-C4D7F18A861B}"/>
              </a:ext>
            </a:extLst>
          </p:cNvPr>
          <p:cNvSpPr txBox="1"/>
          <p:nvPr/>
        </p:nvSpPr>
        <p:spPr>
          <a:xfrm>
            <a:off x="1028699" y="2466043"/>
            <a:ext cx="16426787" cy="4542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Performance steigern: 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Daten schneller verfügbar machen, Zugriffszeiten minimieren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Backend entlasten: 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Weniger direkte Anfragen an Server und Datenbanken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Systemstabilität erhöhen: 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Vermeidung von Überlastung und Ausfällen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Skalierbarkeit unterstützen: 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Systeme können mehr Nutzer oder Daten effizient verarbeiten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Benutzerzufriedenheit verbessern: 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Schnelle Reaktionen erhöhen die Nutzererfahrung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</p:txBody>
      </p:sp>
    </p:spTree>
    <p:extLst>
      <p:ext uri="{BB962C8B-B14F-4D97-AF65-F5344CB8AC3E}">
        <p14:creationId xmlns:p14="http://schemas.microsoft.com/office/powerpoint/2010/main" val="631934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8598286C-4970-3D95-FE3E-C3784FD2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1">
            <a:extLst>
              <a:ext uri="{FF2B5EF4-FFF2-40B4-BE49-F238E27FC236}">
                <a16:creationId xmlns:a16="http://schemas.microsoft.com/office/drawing/2014/main" id="{4ADF8680-5246-4C7C-FA99-D40E699889CE}"/>
              </a:ext>
            </a:extLst>
          </p:cNvPr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178" name="Google Shape;178;p11">
              <a:extLst>
                <a:ext uri="{FF2B5EF4-FFF2-40B4-BE49-F238E27FC236}">
                  <a16:creationId xmlns:a16="http://schemas.microsoft.com/office/drawing/2014/main" id="{FDD367A6-D03D-F0D6-D02C-5843D2A546A9}"/>
                </a:ext>
              </a:extLst>
            </p:cNvPr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11">
              <a:extLst>
                <a:ext uri="{FF2B5EF4-FFF2-40B4-BE49-F238E27FC236}">
                  <a16:creationId xmlns:a16="http://schemas.microsoft.com/office/drawing/2014/main" id="{8EF787C0-FD94-D0A8-7900-5478C74F82B7}"/>
                </a:ext>
              </a:extLst>
            </p:cNvPr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11">
              <a:extLst>
                <a:ext uri="{FF2B5EF4-FFF2-40B4-BE49-F238E27FC236}">
                  <a16:creationId xmlns:a16="http://schemas.microsoft.com/office/drawing/2014/main" id="{57F66657-4A77-7EF9-6965-AE463692CEB5}"/>
                </a:ext>
              </a:extLst>
            </p:cNvPr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11">
              <a:extLst>
                <a:ext uri="{FF2B5EF4-FFF2-40B4-BE49-F238E27FC236}">
                  <a16:creationId xmlns:a16="http://schemas.microsoft.com/office/drawing/2014/main" id="{EA58AED5-E712-EAF4-CAD1-140CE78BF462}"/>
                </a:ext>
              </a:extLst>
            </p:cNvPr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1">
              <a:extLst>
                <a:ext uri="{FF2B5EF4-FFF2-40B4-BE49-F238E27FC236}">
                  <a16:creationId xmlns:a16="http://schemas.microsoft.com/office/drawing/2014/main" id="{9F140D40-CBDB-5561-22A2-78C7BA9F8A68}"/>
                </a:ext>
              </a:extLst>
            </p:cNvPr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83" name="Google Shape;183;p11">
            <a:extLst>
              <a:ext uri="{FF2B5EF4-FFF2-40B4-BE49-F238E27FC236}">
                <a16:creationId xmlns:a16="http://schemas.microsoft.com/office/drawing/2014/main" id="{CEC90283-D1D6-E99A-8B45-3256AE19F40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451" y="330970"/>
            <a:ext cx="12011669" cy="836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1">
            <a:extLst>
              <a:ext uri="{FF2B5EF4-FFF2-40B4-BE49-F238E27FC236}">
                <a16:creationId xmlns:a16="http://schemas.microsoft.com/office/drawing/2014/main" id="{94E4ABFB-A465-D0C0-8006-853229441420}"/>
              </a:ext>
            </a:extLst>
          </p:cNvPr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185" name="Google Shape;185;p11">
              <a:extLst>
                <a:ext uri="{FF2B5EF4-FFF2-40B4-BE49-F238E27FC236}">
                  <a16:creationId xmlns:a16="http://schemas.microsoft.com/office/drawing/2014/main" id="{0EE33F05-40DD-1CD1-E489-52F428CF3577}"/>
                </a:ext>
              </a:extLst>
            </p:cNvPr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186" name="Google Shape;186;p11">
              <a:extLst>
                <a:ext uri="{FF2B5EF4-FFF2-40B4-BE49-F238E27FC236}">
                  <a16:creationId xmlns:a16="http://schemas.microsoft.com/office/drawing/2014/main" id="{CAE03525-098B-7579-008D-2F53492F383C}"/>
                </a:ext>
              </a:extLst>
            </p:cNvPr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1">
            <a:extLst>
              <a:ext uri="{FF2B5EF4-FFF2-40B4-BE49-F238E27FC236}">
                <a16:creationId xmlns:a16="http://schemas.microsoft.com/office/drawing/2014/main" id="{19AA23F3-3A56-459E-B26A-5CE0824F0EED}"/>
              </a:ext>
            </a:extLst>
          </p:cNvPr>
          <p:cNvSpPr txBox="1"/>
          <p:nvPr/>
        </p:nvSpPr>
        <p:spPr>
          <a:xfrm>
            <a:off x="331466" y="7376960"/>
            <a:ext cx="3231000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 dirty="0"/>
          </a:p>
        </p:txBody>
      </p:sp>
      <p:sp>
        <p:nvSpPr>
          <p:cNvPr id="188" name="Google Shape;188;p11">
            <a:extLst>
              <a:ext uri="{FF2B5EF4-FFF2-40B4-BE49-F238E27FC236}">
                <a16:creationId xmlns:a16="http://schemas.microsoft.com/office/drawing/2014/main" id="{70F2957B-1A69-5730-B3EE-FBFF1E3151E9}"/>
              </a:ext>
            </a:extLst>
          </p:cNvPr>
          <p:cNvSpPr txBox="1"/>
          <p:nvPr/>
        </p:nvSpPr>
        <p:spPr>
          <a:xfrm>
            <a:off x="3562466" y="8248399"/>
            <a:ext cx="14394000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Architekturebenen</a:t>
            </a:r>
            <a:endParaRPr sz="9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</p:spTree>
    <p:extLst>
      <p:ext uri="{BB962C8B-B14F-4D97-AF65-F5344CB8AC3E}">
        <p14:creationId xmlns:p14="http://schemas.microsoft.com/office/powerpoint/2010/main" val="2256933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9;p12">
            <a:extLst>
              <a:ext uri="{FF2B5EF4-FFF2-40B4-BE49-F238E27FC236}">
                <a16:creationId xmlns:a16="http://schemas.microsoft.com/office/drawing/2014/main" id="{8E3733EB-01D8-9CCB-D446-91CACCA0FDFF}"/>
              </a:ext>
            </a:extLst>
          </p:cNvPr>
          <p:cNvGrpSpPr/>
          <p:nvPr/>
        </p:nvGrpSpPr>
        <p:grpSpPr>
          <a:xfrm>
            <a:off x="10747275" y="7502012"/>
            <a:ext cx="2118782" cy="1988943"/>
            <a:chOff x="0" y="-9525"/>
            <a:chExt cx="812800" cy="822325"/>
          </a:xfrm>
        </p:grpSpPr>
        <p:sp>
          <p:nvSpPr>
            <p:cNvPr id="20" name="Google Shape;200;p12">
              <a:extLst>
                <a:ext uri="{FF2B5EF4-FFF2-40B4-BE49-F238E27FC236}">
                  <a16:creationId xmlns:a16="http://schemas.microsoft.com/office/drawing/2014/main" id="{3BCD0F6E-2495-4902-30EE-D9D6DE1E41C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01;p12">
              <a:extLst>
                <a:ext uri="{FF2B5EF4-FFF2-40B4-BE49-F238E27FC236}">
                  <a16:creationId xmlns:a16="http://schemas.microsoft.com/office/drawing/2014/main" id="{D25CFB2C-29CB-E75B-D417-8C559293576B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199;p12">
            <a:extLst>
              <a:ext uri="{FF2B5EF4-FFF2-40B4-BE49-F238E27FC236}">
                <a16:creationId xmlns:a16="http://schemas.microsoft.com/office/drawing/2014/main" id="{A6E74F36-32F6-B140-DDBA-27D4C1201B03}"/>
              </a:ext>
            </a:extLst>
          </p:cNvPr>
          <p:cNvGrpSpPr/>
          <p:nvPr/>
        </p:nvGrpSpPr>
        <p:grpSpPr>
          <a:xfrm>
            <a:off x="7638559" y="7478974"/>
            <a:ext cx="2118782" cy="1988943"/>
            <a:chOff x="0" y="-9525"/>
            <a:chExt cx="812800" cy="822325"/>
          </a:xfrm>
        </p:grpSpPr>
        <p:sp>
          <p:nvSpPr>
            <p:cNvPr id="17" name="Google Shape;200;p12">
              <a:extLst>
                <a:ext uri="{FF2B5EF4-FFF2-40B4-BE49-F238E27FC236}">
                  <a16:creationId xmlns:a16="http://schemas.microsoft.com/office/drawing/2014/main" id="{587D018F-F2F9-0ACA-F2CE-12631D4479F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01;p12">
              <a:extLst>
                <a:ext uri="{FF2B5EF4-FFF2-40B4-BE49-F238E27FC236}">
                  <a16:creationId xmlns:a16="http://schemas.microsoft.com/office/drawing/2014/main" id="{9091CD68-C671-DF27-EDCA-E7267F50873C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oogle Shape;199;p12">
            <a:extLst>
              <a:ext uri="{FF2B5EF4-FFF2-40B4-BE49-F238E27FC236}">
                <a16:creationId xmlns:a16="http://schemas.microsoft.com/office/drawing/2014/main" id="{3C8D387F-3241-CFF6-9C97-12701CC6A5E9}"/>
              </a:ext>
            </a:extLst>
          </p:cNvPr>
          <p:cNvGrpSpPr/>
          <p:nvPr/>
        </p:nvGrpSpPr>
        <p:grpSpPr>
          <a:xfrm>
            <a:off x="4529843" y="7331645"/>
            <a:ext cx="2118782" cy="1988943"/>
            <a:chOff x="0" y="-9525"/>
            <a:chExt cx="812800" cy="822325"/>
          </a:xfrm>
        </p:grpSpPr>
        <p:sp>
          <p:nvSpPr>
            <p:cNvPr id="14" name="Google Shape;200;p12">
              <a:extLst>
                <a:ext uri="{FF2B5EF4-FFF2-40B4-BE49-F238E27FC236}">
                  <a16:creationId xmlns:a16="http://schemas.microsoft.com/office/drawing/2014/main" id="{EB60CFC2-6391-0E64-454A-8AD4A32591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01;p12">
              <a:extLst>
                <a:ext uri="{FF2B5EF4-FFF2-40B4-BE49-F238E27FC236}">
                  <a16:creationId xmlns:a16="http://schemas.microsoft.com/office/drawing/2014/main" id="{1D5149CA-8F45-8425-6201-F94724EDC997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8893270C-7DA0-6715-9ECB-C579065B1327}"/>
              </a:ext>
            </a:extLst>
          </p:cNvPr>
          <p:cNvSpPr txBox="1"/>
          <p:nvPr/>
        </p:nvSpPr>
        <p:spPr>
          <a:xfrm>
            <a:off x="1028699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Architekturebenen des </a:t>
            </a:r>
            <a:r>
              <a:rPr lang="de-DE" sz="6600" dirty="0" err="1">
                <a:solidFill>
                  <a:srgbClr val="CCFFA4"/>
                </a:solidFill>
                <a:latin typeface="Rajdhani"/>
                <a:cs typeface="Rajdhani"/>
              </a:rPr>
              <a:t>Cachings</a:t>
            </a:r>
            <a:endParaRPr lang="de-DE" sz="6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1111C4B-6470-CE54-17E8-919F72E1C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64"/>
          <a:stretch>
            <a:fillRect/>
          </a:stretch>
        </p:blipFill>
        <p:spPr>
          <a:xfrm>
            <a:off x="3452882" y="3043450"/>
            <a:ext cx="10490137" cy="5527343"/>
          </a:xfrm>
          <a:prstGeom prst="rect">
            <a:avLst/>
          </a:prstGeom>
        </p:spPr>
      </p:pic>
      <p:sp>
        <p:nvSpPr>
          <p:cNvPr id="10" name="Google Shape;269;p14">
            <a:extLst>
              <a:ext uri="{FF2B5EF4-FFF2-40B4-BE49-F238E27FC236}">
                <a16:creationId xmlns:a16="http://schemas.microsoft.com/office/drawing/2014/main" id="{C5BA3EAC-8AE2-4FA1-7B64-6242231CABB9}"/>
              </a:ext>
            </a:extLst>
          </p:cNvPr>
          <p:cNvSpPr txBox="1"/>
          <p:nvPr/>
        </p:nvSpPr>
        <p:spPr>
          <a:xfrm>
            <a:off x="4808330" y="7478975"/>
            <a:ext cx="1387752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>
                <a:solidFill>
                  <a:srgbClr val="43D29F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 dirty="0">
              <a:solidFill>
                <a:srgbClr val="43D29F"/>
              </a:solidFill>
            </a:endParaRPr>
          </a:p>
        </p:txBody>
      </p:sp>
      <p:sp>
        <p:nvSpPr>
          <p:cNvPr id="11" name="Google Shape;269;p14">
            <a:extLst>
              <a:ext uri="{FF2B5EF4-FFF2-40B4-BE49-F238E27FC236}">
                <a16:creationId xmlns:a16="http://schemas.microsoft.com/office/drawing/2014/main" id="{0F85E2A3-61A5-45B2-0FF3-6332B4AD8238}"/>
              </a:ext>
            </a:extLst>
          </p:cNvPr>
          <p:cNvSpPr txBox="1"/>
          <p:nvPr/>
        </p:nvSpPr>
        <p:spPr>
          <a:xfrm>
            <a:off x="8004074" y="7478975"/>
            <a:ext cx="1387752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>
                <a:solidFill>
                  <a:srgbClr val="43D29F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 dirty="0">
              <a:solidFill>
                <a:srgbClr val="43D29F"/>
              </a:solidFill>
            </a:endParaRPr>
          </a:p>
        </p:txBody>
      </p:sp>
      <p:sp>
        <p:nvSpPr>
          <p:cNvPr id="12" name="Google Shape;269;p14">
            <a:extLst>
              <a:ext uri="{FF2B5EF4-FFF2-40B4-BE49-F238E27FC236}">
                <a16:creationId xmlns:a16="http://schemas.microsoft.com/office/drawing/2014/main" id="{457EDBC7-EC6A-7F74-FAD8-D6470018B500}"/>
              </a:ext>
            </a:extLst>
          </p:cNvPr>
          <p:cNvSpPr txBox="1"/>
          <p:nvPr/>
        </p:nvSpPr>
        <p:spPr>
          <a:xfrm>
            <a:off x="11199818" y="7478975"/>
            <a:ext cx="1387752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>
                <a:solidFill>
                  <a:srgbClr val="43D29F"/>
                </a:solidFill>
                <a:latin typeface="Rajdhani"/>
                <a:ea typeface="Rajdhani"/>
                <a:cs typeface="Rajdhani"/>
                <a:sym typeface="Rajdhani"/>
              </a:rPr>
              <a:t>0</a:t>
            </a:r>
            <a:r>
              <a:rPr lang="en-US" sz="10508" dirty="0">
                <a:solidFill>
                  <a:srgbClr val="43D29F"/>
                </a:solidFill>
                <a:latin typeface="Rajdhani"/>
                <a:ea typeface="Rajdhani"/>
                <a:cs typeface="Rajdhani"/>
                <a:sym typeface="Rajdhani"/>
              </a:rPr>
              <a:t>3</a:t>
            </a:r>
            <a:endParaRPr dirty="0">
              <a:solidFill>
                <a:srgbClr val="43D2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01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4714-748D-206C-698E-ED59F5F41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A4CA07C1-D7CC-E509-84BE-2EE7EC5E997F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Client-Side Caching</a:t>
            </a:r>
          </a:p>
        </p:txBody>
      </p:sp>
      <p:grpSp>
        <p:nvGrpSpPr>
          <p:cNvPr id="3" name="Google Shape;199;p12">
            <a:extLst>
              <a:ext uri="{FF2B5EF4-FFF2-40B4-BE49-F238E27FC236}">
                <a16:creationId xmlns:a16="http://schemas.microsoft.com/office/drawing/2014/main" id="{FB44BD27-EE26-0D54-7589-6742561D86CD}"/>
              </a:ext>
            </a:extLst>
          </p:cNvPr>
          <p:cNvGrpSpPr/>
          <p:nvPr/>
        </p:nvGrpSpPr>
        <p:grpSpPr>
          <a:xfrm>
            <a:off x="1546703" y="1884222"/>
            <a:ext cx="4320000" cy="4320000"/>
            <a:chOff x="0" y="-9525"/>
            <a:chExt cx="812800" cy="822325"/>
          </a:xfrm>
        </p:grpSpPr>
        <p:sp>
          <p:nvSpPr>
            <p:cNvPr id="4" name="Google Shape;200;p12">
              <a:extLst>
                <a:ext uri="{FF2B5EF4-FFF2-40B4-BE49-F238E27FC236}">
                  <a16:creationId xmlns:a16="http://schemas.microsoft.com/office/drawing/2014/main" id="{C12BF53A-DF14-37E6-3748-91B096C1B79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01;p12">
              <a:extLst>
                <a:ext uri="{FF2B5EF4-FFF2-40B4-BE49-F238E27FC236}">
                  <a16:creationId xmlns:a16="http://schemas.microsoft.com/office/drawing/2014/main" id="{2D55675E-D38E-4C09-2AB7-5488451756E4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99;p12">
            <a:extLst>
              <a:ext uri="{FF2B5EF4-FFF2-40B4-BE49-F238E27FC236}">
                <a16:creationId xmlns:a16="http://schemas.microsoft.com/office/drawing/2014/main" id="{F10CFA37-674F-270F-EFD1-C101C1E2861C}"/>
              </a:ext>
            </a:extLst>
          </p:cNvPr>
          <p:cNvGrpSpPr/>
          <p:nvPr/>
        </p:nvGrpSpPr>
        <p:grpSpPr>
          <a:xfrm>
            <a:off x="4542870" y="5769814"/>
            <a:ext cx="4320000" cy="4320000"/>
            <a:chOff x="0" y="-9525"/>
            <a:chExt cx="812800" cy="822325"/>
          </a:xfrm>
        </p:grpSpPr>
        <p:sp>
          <p:nvSpPr>
            <p:cNvPr id="19" name="Google Shape;200;p12">
              <a:extLst>
                <a:ext uri="{FF2B5EF4-FFF2-40B4-BE49-F238E27FC236}">
                  <a16:creationId xmlns:a16="http://schemas.microsoft.com/office/drawing/2014/main" id="{1FF37699-C655-D5F5-AB0F-C3C1265044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1;p12">
              <a:extLst>
                <a:ext uri="{FF2B5EF4-FFF2-40B4-BE49-F238E27FC236}">
                  <a16:creationId xmlns:a16="http://schemas.microsoft.com/office/drawing/2014/main" id="{6AA2FC22-0148-ED08-955E-A305585A54B4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199;p12">
            <a:extLst>
              <a:ext uri="{FF2B5EF4-FFF2-40B4-BE49-F238E27FC236}">
                <a16:creationId xmlns:a16="http://schemas.microsoft.com/office/drawing/2014/main" id="{40A9CE75-ACBE-09FF-A380-C0ADF36CAC0E}"/>
              </a:ext>
            </a:extLst>
          </p:cNvPr>
          <p:cNvGrpSpPr/>
          <p:nvPr/>
        </p:nvGrpSpPr>
        <p:grpSpPr>
          <a:xfrm>
            <a:off x="9567521" y="5769814"/>
            <a:ext cx="4320000" cy="4320000"/>
            <a:chOff x="0" y="-9525"/>
            <a:chExt cx="812800" cy="822325"/>
          </a:xfrm>
        </p:grpSpPr>
        <p:sp>
          <p:nvSpPr>
            <p:cNvPr id="31" name="Google Shape;200;p12">
              <a:extLst>
                <a:ext uri="{FF2B5EF4-FFF2-40B4-BE49-F238E27FC236}">
                  <a16:creationId xmlns:a16="http://schemas.microsoft.com/office/drawing/2014/main" id="{53A181C7-5470-789E-D70A-3398B453C8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01;p12">
              <a:extLst>
                <a:ext uri="{FF2B5EF4-FFF2-40B4-BE49-F238E27FC236}">
                  <a16:creationId xmlns:a16="http://schemas.microsoft.com/office/drawing/2014/main" id="{F3D21D6A-0A40-98D0-73A8-795FB3CAC662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9FB35935-31D3-9ECB-00FA-6668B95EDE40}"/>
              </a:ext>
            </a:extLst>
          </p:cNvPr>
          <p:cNvSpPr txBox="1"/>
          <p:nvPr/>
        </p:nvSpPr>
        <p:spPr>
          <a:xfrm>
            <a:off x="9873255" y="7800944"/>
            <a:ext cx="37085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000" dirty="0">
                <a:solidFill>
                  <a:schemeClr val="tx1"/>
                </a:solidFill>
                <a:latin typeface="Rajdhani"/>
                <a:cs typeface="Rajdhani"/>
              </a:rPr>
              <a:t>HTTP-Header (z. B. Cache-Control: </a:t>
            </a:r>
            <a:r>
              <a:rPr lang="de-DE" altLang="de-DE" sz="2000" dirty="0" err="1">
                <a:solidFill>
                  <a:schemeClr val="tx1"/>
                </a:solidFill>
                <a:latin typeface="Rajdhani"/>
                <a:cs typeface="Rajdhani"/>
              </a:rPr>
              <a:t>max-age</a:t>
            </a:r>
            <a:r>
              <a:rPr lang="de-DE" altLang="de-DE" sz="2000" dirty="0">
                <a:solidFill>
                  <a:schemeClr val="tx1"/>
                </a:solidFill>
                <a:latin typeface="Rajdhani"/>
                <a:cs typeface="Rajdhani"/>
              </a:rPr>
              <a:t>=60)</a:t>
            </a:r>
          </a:p>
        </p:txBody>
      </p:sp>
      <p:grpSp>
        <p:nvGrpSpPr>
          <p:cNvPr id="34" name="Google Shape;199;p12">
            <a:extLst>
              <a:ext uri="{FF2B5EF4-FFF2-40B4-BE49-F238E27FC236}">
                <a16:creationId xmlns:a16="http://schemas.microsoft.com/office/drawing/2014/main" id="{FF8A67EF-1E51-9A4D-3B0A-35E327543F56}"/>
              </a:ext>
            </a:extLst>
          </p:cNvPr>
          <p:cNvGrpSpPr/>
          <p:nvPr/>
        </p:nvGrpSpPr>
        <p:grpSpPr>
          <a:xfrm>
            <a:off x="12595547" y="1934261"/>
            <a:ext cx="4320000" cy="4320000"/>
            <a:chOff x="0" y="-9525"/>
            <a:chExt cx="812800" cy="822325"/>
          </a:xfrm>
        </p:grpSpPr>
        <p:sp>
          <p:nvSpPr>
            <p:cNvPr id="35" name="Google Shape;200;p12">
              <a:extLst>
                <a:ext uri="{FF2B5EF4-FFF2-40B4-BE49-F238E27FC236}">
                  <a16:creationId xmlns:a16="http://schemas.microsoft.com/office/drawing/2014/main" id="{DC5F6F6F-1C52-83F9-85DC-A8EB2EF192E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01;p12">
              <a:extLst>
                <a:ext uri="{FF2B5EF4-FFF2-40B4-BE49-F238E27FC236}">
                  <a16:creationId xmlns:a16="http://schemas.microsoft.com/office/drawing/2014/main" id="{E08A49D1-B4CC-6A81-A124-90ED1360F2FE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206;p12">
            <a:extLst>
              <a:ext uri="{FF2B5EF4-FFF2-40B4-BE49-F238E27FC236}">
                <a16:creationId xmlns:a16="http://schemas.microsoft.com/office/drawing/2014/main" id="{C29EF8FD-3290-B5AE-6545-FA9E3572D5E2}"/>
              </a:ext>
            </a:extLst>
          </p:cNvPr>
          <p:cNvSpPr txBox="1"/>
          <p:nvPr/>
        </p:nvSpPr>
        <p:spPr>
          <a:xfrm>
            <a:off x="2161313" y="3448169"/>
            <a:ext cx="284630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Lokal auf Endgerät</a:t>
            </a:r>
            <a:endParaRPr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39" name="Google Shape;208;p12">
            <a:extLst>
              <a:ext uri="{FF2B5EF4-FFF2-40B4-BE49-F238E27FC236}">
                <a16:creationId xmlns:a16="http://schemas.microsoft.com/office/drawing/2014/main" id="{774869B7-CB60-717D-1F8E-C01B8ED0EFBA}"/>
              </a:ext>
            </a:extLst>
          </p:cNvPr>
          <p:cNvSpPr txBox="1"/>
          <p:nvPr/>
        </p:nvSpPr>
        <p:spPr>
          <a:xfrm>
            <a:off x="2572520" y="2706401"/>
            <a:ext cx="2023896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400" b="1" dirty="0">
                <a:solidFill>
                  <a:schemeClr val="tx1"/>
                </a:solidFill>
                <a:latin typeface="Rajdhani"/>
                <a:cs typeface="Rajdhani"/>
              </a:rPr>
              <a:t>Speicherort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0" name="Google Shape;206;p12">
            <a:extLst>
              <a:ext uri="{FF2B5EF4-FFF2-40B4-BE49-F238E27FC236}">
                <a16:creationId xmlns:a16="http://schemas.microsoft.com/office/drawing/2014/main" id="{9085C6C1-34CD-1BC1-A276-78EDA2EE86E0}"/>
              </a:ext>
            </a:extLst>
          </p:cNvPr>
          <p:cNvSpPr txBox="1"/>
          <p:nvPr/>
        </p:nvSpPr>
        <p:spPr>
          <a:xfrm>
            <a:off x="5279715" y="7331111"/>
            <a:ext cx="2846309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000" dirty="0">
                <a:solidFill>
                  <a:schemeClr val="tx1"/>
                </a:solidFill>
                <a:latin typeface="Rajdhani"/>
                <a:cs typeface="Rajdhani"/>
              </a:rPr>
              <a:t>Statische Ressourcen (CSS, JS, Bilder, Fonts)</a:t>
            </a:r>
          </a:p>
        </p:txBody>
      </p:sp>
      <p:sp>
        <p:nvSpPr>
          <p:cNvPr id="41" name="Google Shape;208;p12">
            <a:extLst>
              <a:ext uri="{FF2B5EF4-FFF2-40B4-BE49-F238E27FC236}">
                <a16:creationId xmlns:a16="http://schemas.microsoft.com/office/drawing/2014/main" id="{BDC0279B-6B9A-758E-1E91-896CD75C6240}"/>
              </a:ext>
            </a:extLst>
          </p:cNvPr>
          <p:cNvSpPr txBox="1"/>
          <p:nvPr/>
        </p:nvSpPr>
        <p:spPr>
          <a:xfrm>
            <a:off x="5576414" y="6558884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Anwendungsfall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2" name="Google Shape;208;p12">
            <a:extLst>
              <a:ext uri="{FF2B5EF4-FFF2-40B4-BE49-F238E27FC236}">
                <a16:creationId xmlns:a16="http://schemas.microsoft.com/office/drawing/2014/main" id="{7D0309F4-AD80-AF23-14EB-969FD3209653}"/>
              </a:ext>
            </a:extLst>
          </p:cNvPr>
          <p:cNvSpPr txBox="1"/>
          <p:nvPr/>
        </p:nvSpPr>
        <p:spPr>
          <a:xfrm>
            <a:off x="10509970" y="6642783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Steuerung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60BA5EA8-B280-0B83-4929-40AF0467F9FA}"/>
              </a:ext>
            </a:extLst>
          </p:cNvPr>
          <p:cNvSpPr txBox="1"/>
          <p:nvPr/>
        </p:nvSpPr>
        <p:spPr>
          <a:xfrm>
            <a:off x="13032765" y="3709506"/>
            <a:ext cx="37085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Sehr schnelle Ladezeiten</a:t>
            </a:r>
          </a:p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Keine erneute Serveranfrage notwendig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8" name="Google Shape;208;p12">
            <a:extLst>
              <a:ext uri="{FF2B5EF4-FFF2-40B4-BE49-F238E27FC236}">
                <a16:creationId xmlns:a16="http://schemas.microsoft.com/office/drawing/2014/main" id="{2D558D2B-2F21-8B5D-D464-2849A1F8532C}"/>
              </a:ext>
            </a:extLst>
          </p:cNvPr>
          <p:cNvSpPr txBox="1"/>
          <p:nvPr/>
        </p:nvSpPr>
        <p:spPr>
          <a:xfrm>
            <a:off x="13669480" y="2551345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Vorteile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</p:spTree>
    <p:extLst>
      <p:ext uri="{BB962C8B-B14F-4D97-AF65-F5344CB8AC3E}">
        <p14:creationId xmlns:p14="http://schemas.microsoft.com/office/powerpoint/2010/main" val="4119918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6A0C-E5EC-1939-C953-56BC4BF7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9D23BBB0-8C8A-D569-C61A-BBD2C191FBC4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Proxy / CDN-Caching</a:t>
            </a:r>
          </a:p>
        </p:txBody>
      </p:sp>
      <p:grpSp>
        <p:nvGrpSpPr>
          <p:cNvPr id="3" name="Google Shape;199;p12">
            <a:extLst>
              <a:ext uri="{FF2B5EF4-FFF2-40B4-BE49-F238E27FC236}">
                <a16:creationId xmlns:a16="http://schemas.microsoft.com/office/drawing/2014/main" id="{F2992000-0987-8A03-9D6A-6821C115BD8C}"/>
              </a:ext>
            </a:extLst>
          </p:cNvPr>
          <p:cNvGrpSpPr/>
          <p:nvPr/>
        </p:nvGrpSpPr>
        <p:grpSpPr>
          <a:xfrm>
            <a:off x="1546703" y="1884222"/>
            <a:ext cx="4320000" cy="4320000"/>
            <a:chOff x="0" y="-9525"/>
            <a:chExt cx="812800" cy="822325"/>
          </a:xfrm>
        </p:grpSpPr>
        <p:sp>
          <p:nvSpPr>
            <p:cNvPr id="4" name="Google Shape;200;p12">
              <a:extLst>
                <a:ext uri="{FF2B5EF4-FFF2-40B4-BE49-F238E27FC236}">
                  <a16:creationId xmlns:a16="http://schemas.microsoft.com/office/drawing/2014/main" id="{64941FE5-42CE-3D33-AC06-4C3337DB6D7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01;p12">
              <a:extLst>
                <a:ext uri="{FF2B5EF4-FFF2-40B4-BE49-F238E27FC236}">
                  <a16:creationId xmlns:a16="http://schemas.microsoft.com/office/drawing/2014/main" id="{4AA67D3D-FDF5-1FA8-CF3F-1573145F95F2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99;p12">
            <a:extLst>
              <a:ext uri="{FF2B5EF4-FFF2-40B4-BE49-F238E27FC236}">
                <a16:creationId xmlns:a16="http://schemas.microsoft.com/office/drawing/2014/main" id="{3114B7A7-FD22-E650-A70E-0D584D0C7809}"/>
              </a:ext>
            </a:extLst>
          </p:cNvPr>
          <p:cNvGrpSpPr/>
          <p:nvPr/>
        </p:nvGrpSpPr>
        <p:grpSpPr>
          <a:xfrm>
            <a:off x="4542870" y="5769814"/>
            <a:ext cx="4320000" cy="4320000"/>
            <a:chOff x="0" y="-9525"/>
            <a:chExt cx="812800" cy="822325"/>
          </a:xfrm>
        </p:grpSpPr>
        <p:sp>
          <p:nvSpPr>
            <p:cNvPr id="19" name="Google Shape;200;p12">
              <a:extLst>
                <a:ext uri="{FF2B5EF4-FFF2-40B4-BE49-F238E27FC236}">
                  <a16:creationId xmlns:a16="http://schemas.microsoft.com/office/drawing/2014/main" id="{936C7D8D-F03E-C82C-2FBF-29571774E2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1;p12">
              <a:extLst>
                <a:ext uri="{FF2B5EF4-FFF2-40B4-BE49-F238E27FC236}">
                  <a16:creationId xmlns:a16="http://schemas.microsoft.com/office/drawing/2014/main" id="{931BC3FB-9E11-FCA2-F0E4-58657B96BE30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199;p12">
            <a:extLst>
              <a:ext uri="{FF2B5EF4-FFF2-40B4-BE49-F238E27FC236}">
                <a16:creationId xmlns:a16="http://schemas.microsoft.com/office/drawing/2014/main" id="{95E0AEFC-9888-7F48-4B0E-17517E80557E}"/>
              </a:ext>
            </a:extLst>
          </p:cNvPr>
          <p:cNvGrpSpPr/>
          <p:nvPr/>
        </p:nvGrpSpPr>
        <p:grpSpPr>
          <a:xfrm>
            <a:off x="9567521" y="5769814"/>
            <a:ext cx="4320000" cy="4320000"/>
            <a:chOff x="0" y="-9525"/>
            <a:chExt cx="812800" cy="822325"/>
          </a:xfrm>
        </p:grpSpPr>
        <p:sp>
          <p:nvSpPr>
            <p:cNvPr id="31" name="Google Shape;200;p12">
              <a:extLst>
                <a:ext uri="{FF2B5EF4-FFF2-40B4-BE49-F238E27FC236}">
                  <a16:creationId xmlns:a16="http://schemas.microsoft.com/office/drawing/2014/main" id="{C28F45A3-0FC2-C06E-A8BD-D69D93D64B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01;p12">
              <a:extLst>
                <a:ext uri="{FF2B5EF4-FFF2-40B4-BE49-F238E27FC236}">
                  <a16:creationId xmlns:a16="http://schemas.microsoft.com/office/drawing/2014/main" id="{C932F98D-29C3-B462-2F8E-E910CE4C9B29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967AB1D4-A2E6-C74C-72F4-89477B765C0E}"/>
              </a:ext>
            </a:extLst>
          </p:cNvPr>
          <p:cNvSpPr txBox="1"/>
          <p:nvPr/>
        </p:nvSpPr>
        <p:spPr>
          <a:xfrm>
            <a:off x="9873255" y="7800944"/>
            <a:ext cx="37085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CDN- und Cache-Regeln (TTL, Cache Keys, Invalidation)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grpSp>
        <p:nvGrpSpPr>
          <p:cNvPr id="34" name="Google Shape;199;p12">
            <a:extLst>
              <a:ext uri="{FF2B5EF4-FFF2-40B4-BE49-F238E27FC236}">
                <a16:creationId xmlns:a16="http://schemas.microsoft.com/office/drawing/2014/main" id="{34136700-3A47-6140-C4C5-1BE843344939}"/>
              </a:ext>
            </a:extLst>
          </p:cNvPr>
          <p:cNvGrpSpPr/>
          <p:nvPr/>
        </p:nvGrpSpPr>
        <p:grpSpPr>
          <a:xfrm>
            <a:off x="12595547" y="1934261"/>
            <a:ext cx="4320000" cy="4320000"/>
            <a:chOff x="0" y="-9525"/>
            <a:chExt cx="812800" cy="822325"/>
          </a:xfrm>
        </p:grpSpPr>
        <p:sp>
          <p:nvSpPr>
            <p:cNvPr id="35" name="Google Shape;200;p12">
              <a:extLst>
                <a:ext uri="{FF2B5EF4-FFF2-40B4-BE49-F238E27FC236}">
                  <a16:creationId xmlns:a16="http://schemas.microsoft.com/office/drawing/2014/main" id="{FF0FA23C-FA40-4674-0AE4-1FB54D152FB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01;p12">
              <a:extLst>
                <a:ext uri="{FF2B5EF4-FFF2-40B4-BE49-F238E27FC236}">
                  <a16:creationId xmlns:a16="http://schemas.microsoft.com/office/drawing/2014/main" id="{24216D6A-EAE2-4546-CBD1-71F2A4B0E979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206;p12">
            <a:extLst>
              <a:ext uri="{FF2B5EF4-FFF2-40B4-BE49-F238E27FC236}">
                <a16:creationId xmlns:a16="http://schemas.microsoft.com/office/drawing/2014/main" id="{B27DA115-CFFD-8E9E-BCBA-E939DDE8644F}"/>
              </a:ext>
            </a:extLst>
          </p:cNvPr>
          <p:cNvSpPr txBox="1"/>
          <p:nvPr/>
        </p:nvSpPr>
        <p:spPr>
          <a:xfrm>
            <a:off x="2161313" y="3448169"/>
            <a:ext cx="284630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Geografisch verteilte Edge-Server eines CDN-Anbieters</a:t>
            </a:r>
            <a:endParaRPr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39" name="Google Shape;208;p12">
            <a:extLst>
              <a:ext uri="{FF2B5EF4-FFF2-40B4-BE49-F238E27FC236}">
                <a16:creationId xmlns:a16="http://schemas.microsoft.com/office/drawing/2014/main" id="{49596232-9256-6DC7-554B-4C28E6E6F7AF}"/>
              </a:ext>
            </a:extLst>
          </p:cNvPr>
          <p:cNvSpPr txBox="1"/>
          <p:nvPr/>
        </p:nvSpPr>
        <p:spPr>
          <a:xfrm>
            <a:off x="2572520" y="2706401"/>
            <a:ext cx="2023896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400" b="1" dirty="0">
                <a:solidFill>
                  <a:schemeClr val="tx1"/>
                </a:solidFill>
                <a:latin typeface="Rajdhani"/>
                <a:cs typeface="Rajdhani"/>
              </a:rPr>
              <a:t>Speicherort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0" name="Google Shape;206;p12">
            <a:extLst>
              <a:ext uri="{FF2B5EF4-FFF2-40B4-BE49-F238E27FC236}">
                <a16:creationId xmlns:a16="http://schemas.microsoft.com/office/drawing/2014/main" id="{4F97D9C7-523C-D1A9-D27A-B4232EC16539}"/>
              </a:ext>
            </a:extLst>
          </p:cNvPr>
          <p:cNvSpPr txBox="1"/>
          <p:nvPr/>
        </p:nvSpPr>
        <p:spPr>
          <a:xfrm>
            <a:off x="5279715" y="7331111"/>
            <a:ext cx="284630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Globale Auslieferung statischer oder semi-statischer Inhalte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1" name="Google Shape;208;p12">
            <a:extLst>
              <a:ext uri="{FF2B5EF4-FFF2-40B4-BE49-F238E27FC236}">
                <a16:creationId xmlns:a16="http://schemas.microsoft.com/office/drawing/2014/main" id="{7E62A479-03AA-8322-9CCC-D4304D1121E2}"/>
              </a:ext>
            </a:extLst>
          </p:cNvPr>
          <p:cNvSpPr txBox="1"/>
          <p:nvPr/>
        </p:nvSpPr>
        <p:spPr>
          <a:xfrm>
            <a:off x="5576414" y="6558884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Anwendungsfall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2" name="Google Shape;208;p12">
            <a:extLst>
              <a:ext uri="{FF2B5EF4-FFF2-40B4-BE49-F238E27FC236}">
                <a16:creationId xmlns:a16="http://schemas.microsoft.com/office/drawing/2014/main" id="{FF59D310-480E-1C73-79AC-B07E15671713}"/>
              </a:ext>
            </a:extLst>
          </p:cNvPr>
          <p:cNvSpPr txBox="1"/>
          <p:nvPr/>
        </p:nvSpPr>
        <p:spPr>
          <a:xfrm>
            <a:off x="10509970" y="6642783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Steuerung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6926B960-8F71-DECD-E6E4-CA07A165A589}"/>
              </a:ext>
            </a:extLst>
          </p:cNvPr>
          <p:cNvSpPr txBox="1"/>
          <p:nvPr/>
        </p:nvSpPr>
        <p:spPr>
          <a:xfrm>
            <a:off x="13032765" y="3709506"/>
            <a:ext cx="37085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Reduzierte Netzwerklatenz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Deutliche Entlastung des Origin-Servers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8" name="Google Shape;208;p12">
            <a:extLst>
              <a:ext uri="{FF2B5EF4-FFF2-40B4-BE49-F238E27FC236}">
                <a16:creationId xmlns:a16="http://schemas.microsoft.com/office/drawing/2014/main" id="{3807B27A-8E38-7BE8-D018-B2EC9D6C374C}"/>
              </a:ext>
            </a:extLst>
          </p:cNvPr>
          <p:cNvSpPr txBox="1"/>
          <p:nvPr/>
        </p:nvSpPr>
        <p:spPr>
          <a:xfrm>
            <a:off x="13669480" y="2551345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Vorteile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</p:spTree>
    <p:extLst>
      <p:ext uri="{BB962C8B-B14F-4D97-AF65-F5344CB8AC3E}">
        <p14:creationId xmlns:p14="http://schemas.microsoft.com/office/powerpoint/2010/main" val="986902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752B4-581E-B5F5-049F-132751951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546CC47C-6102-95C0-00BC-E43F947A8903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Server-seitiges Caching</a:t>
            </a:r>
          </a:p>
        </p:txBody>
      </p:sp>
      <p:grpSp>
        <p:nvGrpSpPr>
          <p:cNvPr id="3" name="Google Shape;199;p12">
            <a:extLst>
              <a:ext uri="{FF2B5EF4-FFF2-40B4-BE49-F238E27FC236}">
                <a16:creationId xmlns:a16="http://schemas.microsoft.com/office/drawing/2014/main" id="{AB791342-9A86-AB3B-B519-686A60432642}"/>
              </a:ext>
            </a:extLst>
          </p:cNvPr>
          <p:cNvGrpSpPr/>
          <p:nvPr/>
        </p:nvGrpSpPr>
        <p:grpSpPr>
          <a:xfrm>
            <a:off x="1546703" y="1884222"/>
            <a:ext cx="4320000" cy="4320000"/>
            <a:chOff x="0" y="-9525"/>
            <a:chExt cx="812800" cy="822325"/>
          </a:xfrm>
        </p:grpSpPr>
        <p:sp>
          <p:nvSpPr>
            <p:cNvPr id="4" name="Google Shape;200;p12">
              <a:extLst>
                <a:ext uri="{FF2B5EF4-FFF2-40B4-BE49-F238E27FC236}">
                  <a16:creationId xmlns:a16="http://schemas.microsoft.com/office/drawing/2014/main" id="{858EC6B9-7AD2-01CE-D758-7794A2BCB9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01;p12">
              <a:extLst>
                <a:ext uri="{FF2B5EF4-FFF2-40B4-BE49-F238E27FC236}">
                  <a16:creationId xmlns:a16="http://schemas.microsoft.com/office/drawing/2014/main" id="{628CE7CE-0595-54C8-EE3F-0F359D1D6378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99;p12">
            <a:extLst>
              <a:ext uri="{FF2B5EF4-FFF2-40B4-BE49-F238E27FC236}">
                <a16:creationId xmlns:a16="http://schemas.microsoft.com/office/drawing/2014/main" id="{180834A4-7EDF-63AB-8CC2-43D08BBB66CA}"/>
              </a:ext>
            </a:extLst>
          </p:cNvPr>
          <p:cNvGrpSpPr/>
          <p:nvPr/>
        </p:nvGrpSpPr>
        <p:grpSpPr>
          <a:xfrm>
            <a:off x="4542870" y="5769814"/>
            <a:ext cx="4320000" cy="4320000"/>
            <a:chOff x="0" y="-9525"/>
            <a:chExt cx="812800" cy="822325"/>
          </a:xfrm>
        </p:grpSpPr>
        <p:sp>
          <p:nvSpPr>
            <p:cNvPr id="19" name="Google Shape;200;p12">
              <a:extLst>
                <a:ext uri="{FF2B5EF4-FFF2-40B4-BE49-F238E27FC236}">
                  <a16:creationId xmlns:a16="http://schemas.microsoft.com/office/drawing/2014/main" id="{67E730B3-33A0-DB3A-3276-EC1A5DB0431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1;p12">
              <a:extLst>
                <a:ext uri="{FF2B5EF4-FFF2-40B4-BE49-F238E27FC236}">
                  <a16:creationId xmlns:a16="http://schemas.microsoft.com/office/drawing/2014/main" id="{AE9E40E2-D49E-CAE4-CD28-E77D2AB5CA27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199;p12">
            <a:extLst>
              <a:ext uri="{FF2B5EF4-FFF2-40B4-BE49-F238E27FC236}">
                <a16:creationId xmlns:a16="http://schemas.microsoft.com/office/drawing/2014/main" id="{7F7A9D93-48B6-C83B-7B4C-39F4AF695855}"/>
              </a:ext>
            </a:extLst>
          </p:cNvPr>
          <p:cNvGrpSpPr/>
          <p:nvPr/>
        </p:nvGrpSpPr>
        <p:grpSpPr>
          <a:xfrm>
            <a:off x="9567521" y="5769814"/>
            <a:ext cx="4320000" cy="4320000"/>
            <a:chOff x="0" y="-9525"/>
            <a:chExt cx="812800" cy="822325"/>
          </a:xfrm>
        </p:grpSpPr>
        <p:sp>
          <p:nvSpPr>
            <p:cNvPr id="31" name="Google Shape;200;p12">
              <a:extLst>
                <a:ext uri="{FF2B5EF4-FFF2-40B4-BE49-F238E27FC236}">
                  <a16:creationId xmlns:a16="http://schemas.microsoft.com/office/drawing/2014/main" id="{EEB1178A-48E4-F782-456B-559B9666AFD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01;p12">
              <a:extLst>
                <a:ext uri="{FF2B5EF4-FFF2-40B4-BE49-F238E27FC236}">
                  <a16:creationId xmlns:a16="http://schemas.microsoft.com/office/drawing/2014/main" id="{D1FBE35E-8BFD-E80F-D110-725A7133A293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EB9BD216-937B-F116-4807-405FE21E7364}"/>
              </a:ext>
            </a:extLst>
          </p:cNvPr>
          <p:cNvSpPr txBox="1"/>
          <p:nvPr/>
        </p:nvSpPr>
        <p:spPr>
          <a:xfrm>
            <a:off x="9873255" y="7800944"/>
            <a:ext cx="37085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Direkte Kontrolle durch die Anwendungslogik</a:t>
            </a:r>
            <a:b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</a:b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(TTL, explizite </a:t>
            </a:r>
            <a:r>
              <a:rPr lang="de-DE" sz="2000" dirty="0" err="1">
                <a:solidFill>
                  <a:schemeClr val="tx1"/>
                </a:solidFill>
                <a:latin typeface="Rajdhani"/>
                <a:cs typeface="Rajdhani"/>
              </a:rPr>
              <a:t>Invalidierung</a:t>
            </a: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)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grpSp>
        <p:nvGrpSpPr>
          <p:cNvPr id="34" name="Google Shape;199;p12">
            <a:extLst>
              <a:ext uri="{FF2B5EF4-FFF2-40B4-BE49-F238E27FC236}">
                <a16:creationId xmlns:a16="http://schemas.microsoft.com/office/drawing/2014/main" id="{79A6082B-D191-7F9F-0779-43DD5C9CAFA9}"/>
              </a:ext>
            </a:extLst>
          </p:cNvPr>
          <p:cNvGrpSpPr/>
          <p:nvPr/>
        </p:nvGrpSpPr>
        <p:grpSpPr>
          <a:xfrm>
            <a:off x="12595547" y="1934261"/>
            <a:ext cx="4320000" cy="4320000"/>
            <a:chOff x="0" y="-9525"/>
            <a:chExt cx="812800" cy="822325"/>
          </a:xfrm>
        </p:grpSpPr>
        <p:sp>
          <p:nvSpPr>
            <p:cNvPr id="35" name="Google Shape;200;p12">
              <a:extLst>
                <a:ext uri="{FF2B5EF4-FFF2-40B4-BE49-F238E27FC236}">
                  <a16:creationId xmlns:a16="http://schemas.microsoft.com/office/drawing/2014/main" id="{DA5BDBB7-032F-E214-D6E9-9BF8E9A061F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01;p12">
              <a:extLst>
                <a:ext uri="{FF2B5EF4-FFF2-40B4-BE49-F238E27FC236}">
                  <a16:creationId xmlns:a16="http://schemas.microsoft.com/office/drawing/2014/main" id="{33960B73-A998-644B-81C6-0C68F4D68117}"/>
                </a:ext>
              </a:extLst>
            </p:cNvPr>
            <p:cNvSpPr txBox="1"/>
            <p:nvPr/>
          </p:nvSpPr>
          <p:spPr>
            <a:xfrm>
              <a:off x="84667" y="-9525"/>
              <a:ext cx="728133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206;p12">
            <a:extLst>
              <a:ext uri="{FF2B5EF4-FFF2-40B4-BE49-F238E27FC236}">
                <a16:creationId xmlns:a16="http://schemas.microsoft.com/office/drawing/2014/main" id="{91B81D96-CC3C-F8FE-E619-C32880E7B491}"/>
              </a:ext>
            </a:extLst>
          </p:cNvPr>
          <p:cNvSpPr txBox="1"/>
          <p:nvPr/>
        </p:nvSpPr>
        <p:spPr>
          <a:xfrm>
            <a:off x="2161313" y="3448169"/>
            <a:ext cx="2846309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Arbeitsspeicher von Applikationsservern oder In-Memory-Stores</a:t>
            </a:r>
            <a:b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</a:b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(z. B. </a:t>
            </a:r>
            <a:r>
              <a:rPr lang="de-DE" sz="2000" dirty="0" err="1">
                <a:solidFill>
                  <a:schemeClr val="tx1"/>
                </a:solidFill>
                <a:latin typeface="Rajdhani"/>
                <a:cs typeface="Rajdhani"/>
              </a:rPr>
              <a:t>Redis</a:t>
            </a: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, </a:t>
            </a:r>
            <a:r>
              <a:rPr lang="de-DE" sz="2000" dirty="0" err="1">
                <a:solidFill>
                  <a:schemeClr val="tx1"/>
                </a:solidFill>
                <a:latin typeface="Rajdhani"/>
                <a:cs typeface="Rajdhani"/>
              </a:rPr>
              <a:t>Memcached</a:t>
            </a: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)</a:t>
            </a:r>
            <a:endParaRPr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39" name="Google Shape;208;p12">
            <a:extLst>
              <a:ext uri="{FF2B5EF4-FFF2-40B4-BE49-F238E27FC236}">
                <a16:creationId xmlns:a16="http://schemas.microsoft.com/office/drawing/2014/main" id="{6B7751EC-1285-0B88-9E7A-B3A098DDD398}"/>
              </a:ext>
            </a:extLst>
          </p:cNvPr>
          <p:cNvSpPr txBox="1"/>
          <p:nvPr/>
        </p:nvSpPr>
        <p:spPr>
          <a:xfrm>
            <a:off x="2572520" y="2706401"/>
            <a:ext cx="2023896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400" b="1" dirty="0">
                <a:solidFill>
                  <a:schemeClr val="tx1"/>
                </a:solidFill>
                <a:latin typeface="Rajdhani"/>
                <a:cs typeface="Rajdhani"/>
              </a:rPr>
              <a:t>Speicherort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0" name="Google Shape;206;p12">
            <a:extLst>
              <a:ext uri="{FF2B5EF4-FFF2-40B4-BE49-F238E27FC236}">
                <a16:creationId xmlns:a16="http://schemas.microsoft.com/office/drawing/2014/main" id="{81FDE5EB-96B4-B1E2-13F0-1209927ECFFD}"/>
              </a:ext>
            </a:extLst>
          </p:cNvPr>
          <p:cNvSpPr txBox="1"/>
          <p:nvPr/>
        </p:nvSpPr>
        <p:spPr>
          <a:xfrm>
            <a:off x="5279715" y="7331111"/>
            <a:ext cx="284630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Zwischenspeicherung komplexer oder häufig ausgeführter Berechnungen</a:t>
            </a:r>
            <a:b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</a:b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(z. B. Datenbankabfragen, gerenderte Templates)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1" name="Google Shape;208;p12">
            <a:extLst>
              <a:ext uri="{FF2B5EF4-FFF2-40B4-BE49-F238E27FC236}">
                <a16:creationId xmlns:a16="http://schemas.microsoft.com/office/drawing/2014/main" id="{D91A5888-4A24-77E3-92B3-61ACAB14A361}"/>
              </a:ext>
            </a:extLst>
          </p:cNvPr>
          <p:cNvSpPr txBox="1"/>
          <p:nvPr/>
        </p:nvSpPr>
        <p:spPr>
          <a:xfrm>
            <a:off x="5576414" y="6558884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Anwendungsfall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2" name="Google Shape;208;p12">
            <a:extLst>
              <a:ext uri="{FF2B5EF4-FFF2-40B4-BE49-F238E27FC236}">
                <a16:creationId xmlns:a16="http://schemas.microsoft.com/office/drawing/2014/main" id="{504CAE76-ACA1-F5FF-A79C-E4CC31EF0CC0}"/>
              </a:ext>
            </a:extLst>
          </p:cNvPr>
          <p:cNvSpPr txBox="1"/>
          <p:nvPr/>
        </p:nvSpPr>
        <p:spPr>
          <a:xfrm>
            <a:off x="10509970" y="6642783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Steuerung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F01A91AA-6041-B651-F838-75C411C61C78}"/>
              </a:ext>
            </a:extLst>
          </p:cNvPr>
          <p:cNvSpPr txBox="1"/>
          <p:nvPr/>
        </p:nvSpPr>
        <p:spPr>
          <a:xfrm>
            <a:off x="13032765" y="3709506"/>
            <a:ext cx="37085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Maximale Kontrolle</a:t>
            </a:r>
          </a:p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Hohe Performance </a:t>
            </a:r>
          </a:p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tx1"/>
                </a:solidFill>
                <a:latin typeface="Rajdhani"/>
                <a:cs typeface="Rajdhani"/>
              </a:rPr>
              <a:t>Gezielte Aktualisierung möglich</a:t>
            </a:r>
            <a:endParaRPr lang="de-DE" altLang="de-DE" sz="2000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  <p:sp>
        <p:nvSpPr>
          <p:cNvPr id="48" name="Google Shape;208;p12">
            <a:extLst>
              <a:ext uri="{FF2B5EF4-FFF2-40B4-BE49-F238E27FC236}">
                <a16:creationId xmlns:a16="http://schemas.microsoft.com/office/drawing/2014/main" id="{72C83E84-68B3-FF72-68EF-CE283D299062}"/>
              </a:ext>
            </a:extLst>
          </p:cNvPr>
          <p:cNvSpPr txBox="1"/>
          <p:nvPr/>
        </p:nvSpPr>
        <p:spPr>
          <a:xfrm>
            <a:off x="13669480" y="2551345"/>
            <a:ext cx="2435102" cy="60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altLang="de-DE" sz="2400" b="1" dirty="0">
                <a:solidFill>
                  <a:schemeClr val="tx1"/>
                </a:solidFill>
                <a:latin typeface="Rajdhani"/>
                <a:cs typeface="Rajdhani"/>
              </a:rPr>
              <a:t>Vorteile</a:t>
            </a:r>
            <a:endParaRPr sz="2400" b="1" dirty="0">
              <a:solidFill>
                <a:schemeClr val="tx1"/>
              </a:solidFill>
              <a:latin typeface="Rajdhani"/>
              <a:cs typeface="Rajdhani"/>
            </a:endParaRPr>
          </a:p>
        </p:txBody>
      </p:sp>
    </p:spTree>
    <p:extLst>
      <p:ext uri="{BB962C8B-B14F-4D97-AF65-F5344CB8AC3E}">
        <p14:creationId xmlns:p14="http://schemas.microsoft.com/office/powerpoint/2010/main" val="158835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2788" y="8190272"/>
            <a:ext cx="3087490" cy="20967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1" name="Google Shape;581;p22"/>
          <p:cNvGrpSpPr/>
          <p:nvPr/>
        </p:nvGrpSpPr>
        <p:grpSpPr>
          <a:xfrm>
            <a:off x="15807202" y="7459982"/>
            <a:ext cx="2593076" cy="644012"/>
            <a:chOff x="0" y="-85725"/>
            <a:chExt cx="1170835" cy="492125"/>
          </a:xfrm>
        </p:grpSpPr>
        <p:sp>
          <p:nvSpPr>
            <p:cNvPr id="582" name="Google Shape;582;p22"/>
            <p:cNvSpPr/>
            <p:nvPr/>
          </p:nvSpPr>
          <p:spPr>
            <a:xfrm>
              <a:off x="0" y="0"/>
              <a:ext cx="1170835" cy="406400"/>
            </a:xfrm>
            <a:custGeom>
              <a:avLst/>
              <a:gdLst/>
              <a:ahLst/>
              <a:cxnLst/>
              <a:rect l="l" t="t" r="r" b="b"/>
              <a:pathLst>
                <a:path w="1170835" h="406400" extrusionOk="0">
                  <a:moveTo>
                    <a:pt x="967635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967635" y="406400"/>
                  </a:lnTo>
                  <a:lnTo>
                    <a:pt x="1170835" y="203200"/>
                  </a:lnTo>
                  <a:lnTo>
                    <a:pt x="9676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583" name="Google Shape;583;p22"/>
            <p:cNvSpPr txBox="1"/>
            <p:nvPr/>
          </p:nvSpPr>
          <p:spPr>
            <a:xfrm>
              <a:off x="0" y="-85725"/>
              <a:ext cx="1056535" cy="49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3" name="Google Shape;593;p22"/>
          <p:cNvGrpSpPr/>
          <p:nvPr/>
        </p:nvGrpSpPr>
        <p:grpSpPr>
          <a:xfrm>
            <a:off x="17388308" y="7590831"/>
            <a:ext cx="682389" cy="513163"/>
            <a:chOff x="0" y="0"/>
            <a:chExt cx="812800" cy="812800"/>
          </a:xfrm>
        </p:grpSpPr>
        <p:sp>
          <p:nvSpPr>
            <p:cNvPr id="594" name="Google Shape;594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</p:sp>
        <p:sp>
          <p:nvSpPr>
            <p:cNvPr id="595" name="Google Shape;595;p22"/>
            <p:cNvSpPr txBox="1"/>
            <p:nvPr/>
          </p:nvSpPr>
          <p:spPr>
            <a:xfrm>
              <a:off x="139700" y="53975"/>
              <a:ext cx="5334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9" name="Google Shape;599;p22"/>
          <p:cNvSpPr/>
          <p:nvPr/>
        </p:nvSpPr>
        <p:spPr>
          <a:xfrm>
            <a:off x="17505594" y="7712085"/>
            <a:ext cx="424331" cy="270654"/>
          </a:xfrm>
          <a:custGeom>
            <a:avLst/>
            <a:gdLst/>
            <a:ahLst/>
            <a:cxnLst/>
            <a:rect l="l" t="t" r="r" b="b"/>
            <a:pathLst>
              <a:path w="668250" h="455625" extrusionOk="0">
                <a:moveTo>
                  <a:pt x="0" y="0"/>
                </a:moveTo>
                <a:lnTo>
                  <a:pt x="668250" y="0"/>
                </a:lnTo>
                <a:lnTo>
                  <a:pt x="668250" y="455626"/>
                </a:lnTo>
                <a:lnTo>
                  <a:pt x="0" y="455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604" name="Google Shape;604;p22"/>
          <p:cNvSpPr txBox="1"/>
          <p:nvPr/>
        </p:nvSpPr>
        <p:spPr>
          <a:xfrm>
            <a:off x="1028700" y="634969"/>
            <a:ext cx="9191006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 err="1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Vergleich</a:t>
            </a:r>
            <a:endParaRPr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75AEA469-1D8D-776B-D3B0-9A00C664B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82942"/>
              </p:ext>
            </p:extLst>
          </p:nvPr>
        </p:nvGraphicFramePr>
        <p:xfrm>
          <a:off x="875645" y="2719738"/>
          <a:ext cx="14184000" cy="7218896"/>
        </p:xfrm>
        <a:graphic>
          <a:graphicData uri="http://schemas.openxmlformats.org/drawingml/2006/table">
            <a:tbl>
              <a:tblPr/>
              <a:tblGrid>
                <a:gridCol w="3546000">
                  <a:extLst>
                    <a:ext uri="{9D8B030D-6E8A-4147-A177-3AD203B41FA5}">
                      <a16:colId xmlns:a16="http://schemas.microsoft.com/office/drawing/2014/main" val="2549432190"/>
                    </a:ext>
                  </a:extLst>
                </a:gridCol>
                <a:gridCol w="3546000">
                  <a:extLst>
                    <a:ext uri="{9D8B030D-6E8A-4147-A177-3AD203B41FA5}">
                      <a16:colId xmlns:a16="http://schemas.microsoft.com/office/drawing/2014/main" val="1126572450"/>
                    </a:ext>
                  </a:extLst>
                </a:gridCol>
                <a:gridCol w="3546000">
                  <a:extLst>
                    <a:ext uri="{9D8B030D-6E8A-4147-A177-3AD203B41FA5}">
                      <a16:colId xmlns:a16="http://schemas.microsoft.com/office/drawing/2014/main" val="3913198193"/>
                    </a:ext>
                  </a:extLst>
                </a:gridCol>
                <a:gridCol w="3546000">
                  <a:extLst>
                    <a:ext uri="{9D8B030D-6E8A-4147-A177-3AD203B41FA5}">
                      <a16:colId xmlns:a16="http://schemas.microsoft.com/office/drawing/2014/main" val="2636325952"/>
                    </a:ext>
                  </a:extLst>
                </a:gridCol>
              </a:tblGrid>
              <a:tr h="449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Kriterium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Client-seitiges Caching (Browser)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Proxy / CDN-Caching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Server-seitiges Caching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958750"/>
                  </a:ext>
                </a:extLst>
              </a:tr>
              <a:tr h="635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Speicherort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Lokal auf dem Endgerät des Nutzers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Geografisch verteilte Edge-Server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Arbeitsspeicher von Applikationsservern oder In-Memory Stores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16898"/>
                  </a:ext>
                </a:extLst>
              </a:tr>
              <a:tr h="8204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Zweck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Zwischenspeicherung statischer Ressourcen (CSS, JS, Bilder, Fonts)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Globale Auslieferung statischer oder semi-statischer Inhalte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Zwischenspeicherung komplexer oder häufiger Berechnungen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617921"/>
                  </a:ext>
                </a:extLst>
              </a:tr>
              <a:tr h="635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Typische Inhalte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Frontend-Ressourcen, UI-Dateien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Medien, Downloads, öffentliche Inhalte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Datenbankabfragen, Berechnungsergebnisse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634930"/>
                  </a:ext>
                </a:extLst>
              </a:tr>
              <a:tr h="8204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Vorteil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Sehr schnelle Ladezeiten, keine Serveranfrage nötig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Reduzierte Netzwerklatenz, Entlastung des Origin-Servers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Maximale Kontrolle, gezielte Invalidierung möglich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286316"/>
                  </a:ext>
                </a:extLst>
              </a:tr>
              <a:tr h="449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Kontrolle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Gering (über HTTP-Header)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Mittel (über CDN-Konfiguration)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Hoch (direkt in der Anwendungslogik)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358117"/>
                  </a:ext>
                </a:extLst>
              </a:tr>
              <a:tr h="2646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Nähe zum Nutzer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Sehr hoch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Hoch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Gering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70433"/>
                  </a:ext>
                </a:extLst>
              </a:tr>
              <a:tr h="449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rgbClr val="43D29F"/>
                          </a:solidFill>
                          <a:latin typeface="Rajdhani"/>
                          <a:cs typeface="Rajdhani"/>
                          <a:sym typeface="Arial"/>
                        </a:rPr>
                        <a:t>Risiko bei Fehlkonfiguration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Veraltete Inhalte (Stale Data)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Datenschutzprobleme (Data Leakage)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0" i="0" u="none" strike="noStrike" cap="none" dirty="0">
                          <a:solidFill>
                            <a:schemeClr val="tx2"/>
                          </a:solidFill>
                          <a:latin typeface="Rajdhani"/>
                          <a:cs typeface="Rajdhani"/>
                          <a:sym typeface="Arial"/>
                        </a:rPr>
                        <a:t>Inkonsistente Daten</a:t>
                      </a:r>
                    </a:p>
                  </a:txBody>
                  <a:tcPr marL="79403" marR="79403" marT="39701" marB="397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28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506">
          <a:extLst>
            <a:ext uri="{FF2B5EF4-FFF2-40B4-BE49-F238E27FC236}">
              <a16:creationId xmlns:a16="http://schemas.microsoft.com/office/drawing/2014/main" id="{32DAD91E-94B5-1260-7350-1CD78B249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20">
            <a:extLst>
              <a:ext uri="{FF2B5EF4-FFF2-40B4-BE49-F238E27FC236}">
                <a16:creationId xmlns:a16="http://schemas.microsoft.com/office/drawing/2014/main" id="{87D1B1AB-169E-8613-7B18-28DCF286BEF7}"/>
              </a:ext>
            </a:extLst>
          </p:cNvPr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508" name="Google Shape;508;p20">
              <a:extLst>
                <a:ext uri="{FF2B5EF4-FFF2-40B4-BE49-F238E27FC236}">
                  <a16:creationId xmlns:a16="http://schemas.microsoft.com/office/drawing/2014/main" id="{55EACE6C-1D9D-CCB5-C579-48DED5FD8A68}"/>
                </a:ext>
              </a:extLst>
            </p:cNvPr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9" name="Google Shape;509;p20">
              <a:extLst>
                <a:ext uri="{FF2B5EF4-FFF2-40B4-BE49-F238E27FC236}">
                  <a16:creationId xmlns:a16="http://schemas.microsoft.com/office/drawing/2014/main" id="{ABBC6C60-2434-0292-A587-1A910B9CA2E0}"/>
                </a:ext>
              </a:extLst>
            </p:cNvPr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0" name="Google Shape;510;p20">
              <a:extLst>
                <a:ext uri="{FF2B5EF4-FFF2-40B4-BE49-F238E27FC236}">
                  <a16:creationId xmlns:a16="http://schemas.microsoft.com/office/drawing/2014/main" id="{0822E6A2-721B-6446-25E1-5A0CED08CEF9}"/>
                </a:ext>
              </a:extLst>
            </p:cNvPr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1" name="Google Shape;511;p20">
              <a:extLst>
                <a:ext uri="{FF2B5EF4-FFF2-40B4-BE49-F238E27FC236}">
                  <a16:creationId xmlns:a16="http://schemas.microsoft.com/office/drawing/2014/main" id="{58716A8D-3EF3-F912-F495-656FB6E7E05E}"/>
                </a:ext>
              </a:extLst>
            </p:cNvPr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2" name="Google Shape;512;p20">
              <a:extLst>
                <a:ext uri="{FF2B5EF4-FFF2-40B4-BE49-F238E27FC236}">
                  <a16:creationId xmlns:a16="http://schemas.microsoft.com/office/drawing/2014/main" id="{771E9066-8A6B-906D-D040-D9FE4366F541}"/>
                </a:ext>
              </a:extLst>
            </p:cNvPr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513" name="Google Shape;513;p20">
            <a:extLst>
              <a:ext uri="{FF2B5EF4-FFF2-40B4-BE49-F238E27FC236}">
                <a16:creationId xmlns:a16="http://schemas.microsoft.com/office/drawing/2014/main" id="{049248A3-1ADB-8073-00A0-4BBA1EBF9E1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924" y="685313"/>
            <a:ext cx="11548150" cy="83628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4" name="Google Shape;514;p20">
            <a:extLst>
              <a:ext uri="{FF2B5EF4-FFF2-40B4-BE49-F238E27FC236}">
                <a16:creationId xmlns:a16="http://schemas.microsoft.com/office/drawing/2014/main" id="{D77A47A0-A525-4D89-DF49-320783BD6751}"/>
              </a:ext>
            </a:extLst>
          </p:cNvPr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515" name="Google Shape;515;p20">
              <a:extLst>
                <a:ext uri="{FF2B5EF4-FFF2-40B4-BE49-F238E27FC236}">
                  <a16:creationId xmlns:a16="http://schemas.microsoft.com/office/drawing/2014/main" id="{FB03A023-F05C-FF09-B3AB-C6468B784E64}"/>
                </a:ext>
              </a:extLst>
            </p:cNvPr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516" name="Google Shape;516;p20">
              <a:extLst>
                <a:ext uri="{FF2B5EF4-FFF2-40B4-BE49-F238E27FC236}">
                  <a16:creationId xmlns:a16="http://schemas.microsoft.com/office/drawing/2014/main" id="{0D8679DD-5CAB-F55E-3BED-EFEAB12017B6}"/>
                </a:ext>
              </a:extLst>
            </p:cNvPr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20">
            <a:extLst>
              <a:ext uri="{FF2B5EF4-FFF2-40B4-BE49-F238E27FC236}">
                <a16:creationId xmlns:a16="http://schemas.microsoft.com/office/drawing/2014/main" id="{765155A4-549A-A420-027D-8EFD7F961809}"/>
              </a:ext>
            </a:extLst>
          </p:cNvPr>
          <p:cNvSpPr txBox="1"/>
          <p:nvPr/>
        </p:nvSpPr>
        <p:spPr>
          <a:xfrm>
            <a:off x="331466" y="7340592"/>
            <a:ext cx="3230959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04</a:t>
            </a:r>
            <a:endParaRPr dirty="0"/>
          </a:p>
        </p:txBody>
      </p:sp>
      <p:sp>
        <p:nvSpPr>
          <p:cNvPr id="518" name="Google Shape;518;p20">
            <a:extLst>
              <a:ext uri="{FF2B5EF4-FFF2-40B4-BE49-F238E27FC236}">
                <a16:creationId xmlns:a16="http://schemas.microsoft.com/office/drawing/2014/main" id="{CF4D6542-0758-87C3-19BB-C42E6C7D0104}"/>
              </a:ext>
            </a:extLst>
          </p:cNvPr>
          <p:cNvSpPr txBox="1"/>
          <p:nvPr/>
        </p:nvSpPr>
        <p:spPr>
          <a:xfrm>
            <a:off x="3696354" y="8139637"/>
            <a:ext cx="13710135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Herausforderungen</a:t>
            </a:r>
          </a:p>
        </p:txBody>
      </p:sp>
    </p:spTree>
    <p:extLst>
      <p:ext uri="{BB962C8B-B14F-4D97-AF65-F5344CB8AC3E}">
        <p14:creationId xmlns:p14="http://schemas.microsoft.com/office/powerpoint/2010/main" val="2383648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852C8-A218-0461-BD67-30F16230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8CA86ADD-1070-59B8-148B-AD51A99C06CA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Konsistenzprobleme (</a:t>
            </a:r>
            <a:r>
              <a:rPr lang="de-DE" sz="6600" dirty="0" err="1">
                <a:solidFill>
                  <a:srgbClr val="CCFFA4"/>
                </a:solidFill>
                <a:latin typeface="Rajdhani"/>
                <a:cs typeface="Rajdhani"/>
              </a:rPr>
              <a:t>Stale</a:t>
            </a: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 Data)</a:t>
            </a:r>
          </a:p>
        </p:txBody>
      </p:sp>
      <p:sp>
        <p:nvSpPr>
          <p:cNvPr id="7" name="Google Shape;268;p14">
            <a:extLst>
              <a:ext uri="{FF2B5EF4-FFF2-40B4-BE49-F238E27FC236}">
                <a16:creationId xmlns:a16="http://schemas.microsoft.com/office/drawing/2014/main" id="{D30535E8-B733-F285-C0C2-4C59F3642E35}"/>
              </a:ext>
            </a:extLst>
          </p:cNvPr>
          <p:cNvSpPr txBox="1"/>
          <p:nvPr/>
        </p:nvSpPr>
        <p:spPr>
          <a:xfrm>
            <a:off x="1028699" y="2466043"/>
            <a:ext cx="16426787" cy="505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Problem:</a:t>
            </a:r>
            <a:b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</a:b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Der Cache liefert veraltete Daten, obwohl die Originaldaten bereits aktualisiert wurden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Ursachen: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Zu lange Cache-Laufzeiten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Fehlende oder falsche </a:t>
            </a:r>
            <a:r>
              <a:rPr lang="de-DE" altLang="de-DE" sz="2400" dirty="0" err="1">
                <a:solidFill>
                  <a:schemeClr val="tx2"/>
                </a:solidFill>
                <a:latin typeface="Rajdhani"/>
                <a:cs typeface="Rajdhani"/>
              </a:rPr>
              <a:t>Invalidierungsstrategie</a:t>
            </a: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Lösungen: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Time-to-Live (TTL): Automatische Ablaufzeit für Cache-Einträge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Ereignisgesteuerte </a:t>
            </a:r>
            <a:r>
              <a:rPr lang="de-DE" altLang="de-DE" sz="2400" dirty="0" err="1">
                <a:solidFill>
                  <a:schemeClr val="tx2"/>
                </a:solidFill>
                <a:latin typeface="Rajdhani"/>
                <a:cs typeface="Rajdhani"/>
              </a:rPr>
              <a:t>Invalidierung</a:t>
            </a: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: Cache wird bei Datenänderungen gezielt gelöscht oder aktualisiert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</p:txBody>
      </p:sp>
    </p:spTree>
    <p:extLst>
      <p:ext uri="{BB962C8B-B14F-4D97-AF65-F5344CB8AC3E}">
        <p14:creationId xmlns:p14="http://schemas.microsoft.com/office/powerpoint/2010/main" val="2763634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2DCF7-698B-4CAC-E232-E697B108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1F768E42-6FB5-7F0A-CAA8-DB5A3B954E82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Datenschutz &amp; Sicherheit (Data Leakage)</a:t>
            </a:r>
          </a:p>
        </p:txBody>
      </p:sp>
      <p:sp>
        <p:nvSpPr>
          <p:cNvPr id="7" name="Google Shape;268;p14">
            <a:extLst>
              <a:ext uri="{FF2B5EF4-FFF2-40B4-BE49-F238E27FC236}">
                <a16:creationId xmlns:a16="http://schemas.microsoft.com/office/drawing/2014/main" id="{F5465D1D-CCAF-1671-6D09-DD608D7D953C}"/>
              </a:ext>
            </a:extLst>
          </p:cNvPr>
          <p:cNvSpPr txBox="1"/>
          <p:nvPr/>
        </p:nvSpPr>
        <p:spPr>
          <a:xfrm>
            <a:off x="1028699" y="2466043"/>
            <a:ext cx="16426787" cy="468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Problem:</a:t>
            </a:r>
            <a:br>
              <a:rPr lang="de-DE" sz="2400" dirty="0"/>
            </a:b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Sensible oder nutzerspezifische Daten werden in öffentlichen Caches gespeichert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Risiko: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Unbefugte Nutzer erhalten Zugriff auf fremde Inhalte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Lösungen: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Cache-Control: private: Speicherung nur im Browser-Cache erlauben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 err="1">
                <a:solidFill>
                  <a:schemeClr val="tx2"/>
                </a:solidFill>
                <a:latin typeface="Rajdhani"/>
                <a:cs typeface="Rajdhani"/>
              </a:rPr>
              <a:t>Vary</a:t>
            </a: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 Header: Trennung von Cache-Versionen nach Cookie oder </a:t>
            </a:r>
            <a:r>
              <a:rPr lang="de-DE" altLang="de-DE" sz="2400" dirty="0" err="1">
                <a:solidFill>
                  <a:schemeClr val="tx2"/>
                </a:solidFill>
                <a:latin typeface="Rajdhani"/>
                <a:cs typeface="Rajdhani"/>
              </a:rPr>
              <a:t>Authorization</a:t>
            </a: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</p:txBody>
      </p:sp>
    </p:spTree>
    <p:extLst>
      <p:ext uri="{BB962C8B-B14F-4D97-AF65-F5344CB8AC3E}">
        <p14:creationId xmlns:p14="http://schemas.microsoft.com/office/powerpoint/2010/main" val="3724612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324">
          <a:extLst>
            <a:ext uri="{FF2B5EF4-FFF2-40B4-BE49-F238E27FC236}">
              <a16:creationId xmlns:a16="http://schemas.microsoft.com/office/drawing/2014/main" id="{10B60E82-BFF4-5648-D479-A0AD17F6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6">
            <a:extLst>
              <a:ext uri="{FF2B5EF4-FFF2-40B4-BE49-F238E27FC236}">
                <a16:creationId xmlns:a16="http://schemas.microsoft.com/office/drawing/2014/main" id="{64CC03B2-7AFB-A9F6-0231-E380543EFE5B}"/>
              </a:ext>
            </a:extLst>
          </p:cNvPr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26" name="Google Shape;326;p16">
              <a:extLst>
                <a:ext uri="{FF2B5EF4-FFF2-40B4-BE49-F238E27FC236}">
                  <a16:creationId xmlns:a16="http://schemas.microsoft.com/office/drawing/2014/main" id="{8C60DEF8-43F9-A087-D6F1-E82C67B154E6}"/>
                </a:ext>
              </a:extLst>
            </p:cNvPr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16">
              <a:extLst>
                <a:ext uri="{FF2B5EF4-FFF2-40B4-BE49-F238E27FC236}">
                  <a16:creationId xmlns:a16="http://schemas.microsoft.com/office/drawing/2014/main" id="{00223405-A45E-C00F-8D71-0C13EF00850D}"/>
                </a:ext>
              </a:extLst>
            </p:cNvPr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16">
              <a:extLst>
                <a:ext uri="{FF2B5EF4-FFF2-40B4-BE49-F238E27FC236}">
                  <a16:creationId xmlns:a16="http://schemas.microsoft.com/office/drawing/2014/main" id="{1171B788-7D08-7C4E-7365-87895D3D4B2D}"/>
                </a:ext>
              </a:extLst>
            </p:cNvPr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16">
              <a:extLst>
                <a:ext uri="{FF2B5EF4-FFF2-40B4-BE49-F238E27FC236}">
                  <a16:creationId xmlns:a16="http://schemas.microsoft.com/office/drawing/2014/main" id="{CB4A0B8B-010E-BEDC-A25B-340C491047D9}"/>
                </a:ext>
              </a:extLst>
            </p:cNvPr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16">
              <a:extLst>
                <a:ext uri="{FF2B5EF4-FFF2-40B4-BE49-F238E27FC236}">
                  <a16:creationId xmlns:a16="http://schemas.microsoft.com/office/drawing/2014/main" id="{6B2123D7-6D02-1A8C-11B6-C5E90130F71B}"/>
                </a:ext>
              </a:extLst>
            </p:cNvPr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31" name="Google Shape;331;p16">
            <a:extLst>
              <a:ext uri="{FF2B5EF4-FFF2-40B4-BE49-F238E27FC236}">
                <a16:creationId xmlns:a16="http://schemas.microsoft.com/office/drawing/2014/main" id="{FE69F121-0D1D-72DD-C5B3-743EA9AF81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475" y="242546"/>
            <a:ext cx="11296899" cy="9215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6">
            <a:extLst>
              <a:ext uri="{FF2B5EF4-FFF2-40B4-BE49-F238E27FC236}">
                <a16:creationId xmlns:a16="http://schemas.microsoft.com/office/drawing/2014/main" id="{7765614C-B09E-8FFB-DA69-A662F01C0091}"/>
              </a:ext>
            </a:extLst>
          </p:cNvPr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333" name="Google Shape;333;p16">
              <a:extLst>
                <a:ext uri="{FF2B5EF4-FFF2-40B4-BE49-F238E27FC236}">
                  <a16:creationId xmlns:a16="http://schemas.microsoft.com/office/drawing/2014/main" id="{7AB8D50B-5E98-816B-EBD4-6E975BCE974B}"/>
                </a:ext>
              </a:extLst>
            </p:cNvPr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34" name="Google Shape;334;p16">
              <a:extLst>
                <a:ext uri="{FF2B5EF4-FFF2-40B4-BE49-F238E27FC236}">
                  <a16:creationId xmlns:a16="http://schemas.microsoft.com/office/drawing/2014/main" id="{55C7498F-9A97-57A3-FFBA-14F740CD60CC}"/>
                </a:ext>
              </a:extLst>
            </p:cNvPr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6">
            <a:extLst>
              <a:ext uri="{FF2B5EF4-FFF2-40B4-BE49-F238E27FC236}">
                <a16:creationId xmlns:a16="http://schemas.microsoft.com/office/drawing/2014/main" id="{59E7EA88-DE9E-8EE3-F722-0C1C3A884E36}"/>
              </a:ext>
            </a:extLst>
          </p:cNvPr>
          <p:cNvSpPr txBox="1"/>
          <p:nvPr/>
        </p:nvSpPr>
        <p:spPr>
          <a:xfrm>
            <a:off x="331466" y="7282364"/>
            <a:ext cx="3231000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05</a:t>
            </a:r>
            <a:endParaRPr dirty="0"/>
          </a:p>
        </p:txBody>
      </p:sp>
      <p:sp>
        <p:nvSpPr>
          <p:cNvPr id="336" name="Google Shape;336;p16">
            <a:extLst>
              <a:ext uri="{FF2B5EF4-FFF2-40B4-BE49-F238E27FC236}">
                <a16:creationId xmlns:a16="http://schemas.microsoft.com/office/drawing/2014/main" id="{1E2C3A49-AD52-E558-420C-3C21E4A58DCA}"/>
              </a:ext>
            </a:extLst>
          </p:cNvPr>
          <p:cNvSpPr txBox="1"/>
          <p:nvPr/>
        </p:nvSpPr>
        <p:spPr>
          <a:xfrm>
            <a:off x="4983412" y="8189028"/>
            <a:ext cx="12158176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152073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2096A-200A-568C-4885-38E7D033F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8B3373E9-6116-FB35-C4F9-A53CF631F877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Planung &amp; Datenkonsistenz</a:t>
            </a:r>
          </a:p>
        </p:txBody>
      </p:sp>
      <p:sp>
        <p:nvSpPr>
          <p:cNvPr id="7" name="Google Shape;268;p14">
            <a:extLst>
              <a:ext uri="{FF2B5EF4-FFF2-40B4-BE49-F238E27FC236}">
                <a16:creationId xmlns:a16="http://schemas.microsoft.com/office/drawing/2014/main" id="{C14A4F24-DE38-7F9C-BC45-215975613D1C}"/>
              </a:ext>
            </a:extLst>
          </p:cNvPr>
          <p:cNvSpPr txBox="1"/>
          <p:nvPr/>
        </p:nvSpPr>
        <p:spPr>
          <a:xfrm>
            <a:off x="1028699" y="2466043"/>
            <a:ext cx="16426787" cy="349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Cache-Strategie sorgfältig planen</a:t>
            </a: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: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Klare Entscheidung, was, wo und wie lange </a:t>
            </a:r>
            <a:r>
              <a:rPr lang="de-DE" sz="2400" dirty="0" err="1">
                <a:solidFill>
                  <a:schemeClr val="tx2"/>
                </a:solidFill>
                <a:latin typeface="Rajdhani"/>
                <a:cs typeface="Rajdhani"/>
              </a:rPr>
              <a:t>gecacht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 wird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Unterschiedliche Inhalte erfordern unterschiedliche Cache-Zeiten</a:t>
            </a: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Automatisierte </a:t>
            </a:r>
            <a:r>
              <a:rPr lang="de-DE" sz="2400" dirty="0" err="1">
                <a:solidFill>
                  <a:srgbClr val="43D29F"/>
                </a:solidFill>
                <a:latin typeface="Rajdhani"/>
                <a:cs typeface="Rajdhani"/>
              </a:rPr>
              <a:t>Invalidierung</a:t>
            </a: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 implementieren</a:t>
            </a: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Veraltete Daten müssen zuverlässig entfernt werden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Einsatz von Time-to-Live (TTL) oder ereignisgesteuerten Mechanismen</a:t>
            </a: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</p:txBody>
      </p:sp>
    </p:spTree>
    <p:extLst>
      <p:ext uri="{BB962C8B-B14F-4D97-AF65-F5344CB8AC3E}">
        <p14:creationId xmlns:p14="http://schemas.microsoft.com/office/powerpoint/2010/main" val="332476635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56B94-7AE6-117B-8744-59D9685F8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DCAEB88E-7EB3-B96F-B20D-28960CC6577C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Sicherheit &amp; Monitoring</a:t>
            </a:r>
          </a:p>
        </p:txBody>
      </p:sp>
      <p:sp>
        <p:nvSpPr>
          <p:cNvPr id="7" name="Google Shape;268;p14">
            <a:extLst>
              <a:ext uri="{FF2B5EF4-FFF2-40B4-BE49-F238E27FC236}">
                <a16:creationId xmlns:a16="http://schemas.microsoft.com/office/drawing/2014/main" id="{61FAB2A3-6F7E-A5F5-EB1B-BFAE4332C092}"/>
              </a:ext>
            </a:extLst>
          </p:cNvPr>
          <p:cNvSpPr txBox="1"/>
          <p:nvPr/>
        </p:nvSpPr>
        <p:spPr>
          <a:xfrm>
            <a:off x="1028699" y="2466043"/>
            <a:ext cx="16426787" cy="386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Sensible Daten absichern</a:t>
            </a: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Keine personenbezogenen oder </a:t>
            </a:r>
            <a:r>
              <a:rPr lang="de-DE" sz="2400" dirty="0" err="1">
                <a:solidFill>
                  <a:schemeClr val="tx2"/>
                </a:solidFill>
                <a:latin typeface="Rajdhani"/>
                <a:cs typeface="Rajdhani"/>
              </a:rPr>
              <a:t>sessionbezogenen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 Daten in öffentlichen Caches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Nutzung von Cache-Control: private und </a:t>
            </a:r>
            <a:r>
              <a:rPr lang="de-DE" sz="2400" dirty="0" err="1">
                <a:solidFill>
                  <a:schemeClr val="tx2"/>
                </a:solidFill>
                <a:latin typeface="Rajdhani"/>
                <a:cs typeface="Rajdhani"/>
              </a:rPr>
              <a:t>Vary</a:t>
            </a: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 Headern</a:t>
            </a: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de-DE" alt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Monitoring &amp; Performance-Analyse</a:t>
            </a:r>
            <a:r>
              <a:rPr lang="de-DE" altLang="de-DE" sz="2400" dirty="0">
                <a:solidFill>
                  <a:srgbClr val="43D29F"/>
                </a:solidFill>
                <a:latin typeface="Rajdhani"/>
                <a:cs typeface="Rajdhani"/>
              </a:rPr>
              <a:t>: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Überwachung von Cache-Hit- und Cache-Miss-Raten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Analyse der Performance-Auswirkungen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altLang="de-DE" sz="2400" dirty="0">
                <a:solidFill>
                  <a:schemeClr val="tx2"/>
                </a:solidFill>
                <a:latin typeface="Rajdhani"/>
                <a:cs typeface="Rajdhani"/>
              </a:rPr>
              <a:t>Frühzeitiges Erkennen von Fehlkonfigurationen</a:t>
            </a: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</p:txBody>
      </p:sp>
    </p:spTree>
    <p:extLst>
      <p:ext uri="{BB962C8B-B14F-4D97-AF65-F5344CB8AC3E}">
        <p14:creationId xmlns:p14="http://schemas.microsoft.com/office/powerpoint/2010/main" val="1642626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FD329B85-076C-15A1-E4E9-2A9532D53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1">
            <a:extLst>
              <a:ext uri="{FF2B5EF4-FFF2-40B4-BE49-F238E27FC236}">
                <a16:creationId xmlns:a16="http://schemas.microsoft.com/office/drawing/2014/main" id="{D1946FE1-6179-7C8F-A691-381A984DBAE1}"/>
              </a:ext>
            </a:extLst>
          </p:cNvPr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178" name="Google Shape;178;p11">
              <a:extLst>
                <a:ext uri="{FF2B5EF4-FFF2-40B4-BE49-F238E27FC236}">
                  <a16:creationId xmlns:a16="http://schemas.microsoft.com/office/drawing/2014/main" id="{B22A6165-2606-5F8E-1BED-CEE3C95E27C9}"/>
                </a:ext>
              </a:extLst>
            </p:cNvPr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11">
              <a:extLst>
                <a:ext uri="{FF2B5EF4-FFF2-40B4-BE49-F238E27FC236}">
                  <a16:creationId xmlns:a16="http://schemas.microsoft.com/office/drawing/2014/main" id="{8044E5D4-870B-14AD-F10E-C227F2E2F1B0}"/>
                </a:ext>
              </a:extLst>
            </p:cNvPr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11">
              <a:extLst>
                <a:ext uri="{FF2B5EF4-FFF2-40B4-BE49-F238E27FC236}">
                  <a16:creationId xmlns:a16="http://schemas.microsoft.com/office/drawing/2014/main" id="{B4909EE5-DB24-828A-5AC1-F12AB31482B2}"/>
                </a:ext>
              </a:extLst>
            </p:cNvPr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11">
              <a:extLst>
                <a:ext uri="{FF2B5EF4-FFF2-40B4-BE49-F238E27FC236}">
                  <a16:creationId xmlns:a16="http://schemas.microsoft.com/office/drawing/2014/main" id="{EC6911D0-9B84-9781-003D-8EC11769BDB2}"/>
                </a:ext>
              </a:extLst>
            </p:cNvPr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1">
              <a:extLst>
                <a:ext uri="{FF2B5EF4-FFF2-40B4-BE49-F238E27FC236}">
                  <a16:creationId xmlns:a16="http://schemas.microsoft.com/office/drawing/2014/main" id="{D6EDB906-4788-0049-5DC7-528D88919C28}"/>
                </a:ext>
              </a:extLst>
            </p:cNvPr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83" name="Google Shape;183;p11">
            <a:extLst>
              <a:ext uri="{FF2B5EF4-FFF2-40B4-BE49-F238E27FC236}">
                <a16:creationId xmlns:a16="http://schemas.microsoft.com/office/drawing/2014/main" id="{3197F9C7-304D-7984-C2ED-A93099EDC7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451" y="330970"/>
            <a:ext cx="12011669" cy="836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1">
            <a:extLst>
              <a:ext uri="{FF2B5EF4-FFF2-40B4-BE49-F238E27FC236}">
                <a16:creationId xmlns:a16="http://schemas.microsoft.com/office/drawing/2014/main" id="{F37D5323-34F4-75D0-5137-C409501966CD}"/>
              </a:ext>
            </a:extLst>
          </p:cNvPr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185" name="Google Shape;185;p11">
              <a:extLst>
                <a:ext uri="{FF2B5EF4-FFF2-40B4-BE49-F238E27FC236}">
                  <a16:creationId xmlns:a16="http://schemas.microsoft.com/office/drawing/2014/main" id="{75FC6489-D97E-9E40-6BDF-154A607C3481}"/>
                </a:ext>
              </a:extLst>
            </p:cNvPr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186" name="Google Shape;186;p11">
              <a:extLst>
                <a:ext uri="{FF2B5EF4-FFF2-40B4-BE49-F238E27FC236}">
                  <a16:creationId xmlns:a16="http://schemas.microsoft.com/office/drawing/2014/main" id="{31A53CBC-907C-15FE-A34B-B084027E0B97}"/>
                </a:ext>
              </a:extLst>
            </p:cNvPr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1">
            <a:extLst>
              <a:ext uri="{FF2B5EF4-FFF2-40B4-BE49-F238E27FC236}">
                <a16:creationId xmlns:a16="http://schemas.microsoft.com/office/drawing/2014/main" id="{4C820FFA-185B-4422-138E-14CE691DDDB4}"/>
              </a:ext>
            </a:extLst>
          </p:cNvPr>
          <p:cNvSpPr txBox="1"/>
          <p:nvPr/>
        </p:nvSpPr>
        <p:spPr>
          <a:xfrm>
            <a:off x="331466" y="7376960"/>
            <a:ext cx="3231000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06</a:t>
            </a:r>
            <a:endParaRPr dirty="0"/>
          </a:p>
        </p:txBody>
      </p:sp>
      <p:sp>
        <p:nvSpPr>
          <p:cNvPr id="188" name="Google Shape;188;p11">
            <a:extLst>
              <a:ext uri="{FF2B5EF4-FFF2-40B4-BE49-F238E27FC236}">
                <a16:creationId xmlns:a16="http://schemas.microsoft.com/office/drawing/2014/main" id="{FBEB123B-BD94-F8C2-6CD9-C57FBCD07CB8}"/>
              </a:ext>
            </a:extLst>
          </p:cNvPr>
          <p:cNvSpPr txBox="1"/>
          <p:nvPr/>
        </p:nvSpPr>
        <p:spPr>
          <a:xfrm>
            <a:off x="3562466" y="8248399"/>
            <a:ext cx="14394000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Demo</a:t>
            </a:r>
            <a:endParaRPr sz="9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</p:spTree>
    <p:extLst>
      <p:ext uri="{BB962C8B-B14F-4D97-AF65-F5344CB8AC3E}">
        <p14:creationId xmlns:p14="http://schemas.microsoft.com/office/powerpoint/2010/main" val="402868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8B1E-54CA-05C0-91DA-2ECD130C8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618BF5AE-8E31-D5CF-D43A-C03D9CE5D8EB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ER-Modell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3D1F36A-932A-6172-D53B-9551DE7E3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32" y="1884222"/>
            <a:ext cx="8964676" cy="588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99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128B6-7779-8FB7-2A9B-45379B9E0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D8C1FC26-989E-4082-7EA9-9189C5E550E4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Zustandsdiagramm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55F8738-3CA7-8310-3361-A59C7805B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78" y="1732188"/>
            <a:ext cx="9725163" cy="8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65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20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508" name="Google Shape;508;p20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9" name="Google Shape;509;p20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0" name="Google Shape;510;p20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1" name="Google Shape;511;p20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2" name="Google Shape;512;p20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513" name="Google Shape;5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924" y="685313"/>
            <a:ext cx="11548150" cy="83628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4" name="Google Shape;514;p20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515" name="Google Shape;515;p20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516" name="Google Shape;516;p20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20"/>
          <p:cNvSpPr txBox="1"/>
          <p:nvPr/>
        </p:nvSpPr>
        <p:spPr>
          <a:xfrm>
            <a:off x="331466" y="7340592"/>
            <a:ext cx="3230959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07</a:t>
            </a:r>
            <a:endParaRPr dirty="0"/>
          </a:p>
        </p:txBody>
      </p:sp>
      <p:sp>
        <p:nvSpPr>
          <p:cNvPr id="518" name="Google Shape;518;p20"/>
          <p:cNvSpPr txBox="1"/>
          <p:nvPr/>
        </p:nvSpPr>
        <p:spPr>
          <a:xfrm>
            <a:off x="3696354" y="8139637"/>
            <a:ext cx="13710135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Fazit</a:t>
            </a:r>
            <a:endParaRPr sz="9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2CA33-5A42-A7E0-8199-2AD8D6F7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6E0845FF-F2A7-1C2F-4DFC-6DB1A95C8CC4}"/>
              </a:ext>
            </a:extLst>
          </p:cNvPr>
          <p:cNvSpPr txBox="1"/>
          <p:nvPr/>
        </p:nvSpPr>
        <p:spPr>
          <a:xfrm>
            <a:off x="930606" y="634969"/>
            <a:ext cx="16426787" cy="124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6600" dirty="0">
                <a:solidFill>
                  <a:srgbClr val="CCFFA4"/>
                </a:solidFill>
                <a:latin typeface="Rajdhani"/>
                <a:cs typeface="Rajdhani"/>
              </a:rPr>
              <a:t>Wichtige Erkenntnisse</a:t>
            </a:r>
          </a:p>
        </p:txBody>
      </p:sp>
      <p:sp>
        <p:nvSpPr>
          <p:cNvPr id="7" name="Google Shape;268;p14">
            <a:extLst>
              <a:ext uri="{FF2B5EF4-FFF2-40B4-BE49-F238E27FC236}">
                <a16:creationId xmlns:a16="http://schemas.microsoft.com/office/drawing/2014/main" id="{8C5F2EBA-3BB0-CB4D-DEC9-13B42D238F01}"/>
              </a:ext>
            </a:extLst>
          </p:cNvPr>
          <p:cNvSpPr txBox="1"/>
          <p:nvPr/>
        </p:nvSpPr>
        <p:spPr>
          <a:xfrm>
            <a:off x="1028699" y="2466043"/>
            <a:ext cx="16426787" cy="684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Zentrale Bedeutung:</a:t>
            </a:r>
          </a:p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Caching ist ein wesentliches Mittel, um die Performance moderner Systeme zu steigern.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Mehrstufiges Caching: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Reduziert Latenzen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Entlastet Backend-Systeme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Jede Cache-Ebene hat eine klar definierte Rolle im Gesamtsystem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Erfolgsfaktoren: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Durchdachte </a:t>
            </a:r>
            <a:r>
              <a:rPr lang="de-DE" sz="2400" dirty="0" err="1">
                <a:solidFill>
                  <a:schemeClr val="tx2"/>
                </a:solidFill>
                <a:latin typeface="Rajdhani"/>
                <a:cs typeface="Rajdhani"/>
              </a:rPr>
              <a:t>Invalidierungsstrategien</a:t>
            </a: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Sorgfältiger Umgang mit sensiblen Daten</a:t>
            </a:r>
          </a:p>
          <a:p>
            <a:pPr lvl="0">
              <a:lnSpc>
                <a:spcPct val="123000"/>
              </a:lnSpc>
            </a:pPr>
            <a:endParaRPr lang="de-DE" sz="2400" dirty="0">
              <a:solidFill>
                <a:schemeClr val="tx2"/>
              </a:solidFill>
              <a:latin typeface="Rajdhani"/>
              <a:cs typeface="Rajdhani"/>
            </a:endParaRPr>
          </a:p>
          <a:p>
            <a:pPr lvl="0">
              <a:lnSpc>
                <a:spcPct val="123000"/>
              </a:lnSpc>
            </a:pPr>
            <a:r>
              <a:rPr lang="de-DE" sz="2400" dirty="0">
                <a:solidFill>
                  <a:srgbClr val="43D29F"/>
                </a:solidFill>
                <a:latin typeface="Rajdhani"/>
                <a:cs typeface="Rajdhani"/>
              </a:rPr>
              <a:t>Nutzen bei richtiger Umsetzung: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Höhere Benutzerzufriedenheit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Verbesserte Skalierbarkeit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tx2"/>
                </a:solidFill>
                <a:latin typeface="Rajdhani"/>
                <a:cs typeface="Rajdhani"/>
              </a:rPr>
              <a:t>Erhöhte Systemstabilität</a:t>
            </a:r>
          </a:p>
        </p:txBody>
      </p:sp>
    </p:spTree>
    <p:extLst>
      <p:ext uri="{BB962C8B-B14F-4D97-AF65-F5344CB8AC3E}">
        <p14:creationId xmlns:p14="http://schemas.microsoft.com/office/powerpoint/2010/main" val="2546496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324">
          <a:extLst>
            <a:ext uri="{FF2B5EF4-FFF2-40B4-BE49-F238E27FC236}">
              <a16:creationId xmlns:a16="http://schemas.microsoft.com/office/drawing/2014/main" id="{518D1D74-A477-11BC-218A-2AAF915F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199;p12">
            <a:extLst>
              <a:ext uri="{FF2B5EF4-FFF2-40B4-BE49-F238E27FC236}">
                <a16:creationId xmlns:a16="http://schemas.microsoft.com/office/drawing/2014/main" id="{09C2089A-89A3-ECE9-C42D-2BCDF7BAA126}"/>
              </a:ext>
            </a:extLst>
          </p:cNvPr>
          <p:cNvGrpSpPr/>
          <p:nvPr/>
        </p:nvGrpSpPr>
        <p:grpSpPr>
          <a:xfrm>
            <a:off x="12699830" y="701670"/>
            <a:ext cx="5588166" cy="5653652"/>
            <a:chOff x="0" y="-9525"/>
            <a:chExt cx="812800" cy="822325"/>
          </a:xfrm>
        </p:grpSpPr>
        <p:sp>
          <p:nvSpPr>
            <p:cNvPr id="8" name="Google Shape;200;p12">
              <a:extLst>
                <a:ext uri="{FF2B5EF4-FFF2-40B4-BE49-F238E27FC236}">
                  <a16:creationId xmlns:a16="http://schemas.microsoft.com/office/drawing/2014/main" id="{9F5E0D02-9A5E-74D7-E2AC-418DD3E68BF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1;p12">
              <a:extLst>
                <a:ext uri="{FF2B5EF4-FFF2-40B4-BE49-F238E27FC236}">
                  <a16:creationId xmlns:a16="http://schemas.microsoft.com/office/drawing/2014/main" id="{66C5CD90-EA9C-EF8C-B950-86592299EA2A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6">
            <a:extLst>
              <a:ext uri="{FF2B5EF4-FFF2-40B4-BE49-F238E27FC236}">
                <a16:creationId xmlns:a16="http://schemas.microsoft.com/office/drawing/2014/main" id="{02BCE993-8F4B-00D4-9E07-CF3F1DE3AFF1}"/>
              </a:ext>
            </a:extLst>
          </p:cNvPr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26" name="Google Shape;326;p16">
              <a:extLst>
                <a:ext uri="{FF2B5EF4-FFF2-40B4-BE49-F238E27FC236}">
                  <a16:creationId xmlns:a16="http://schemas.microsoft.com/office/drawing/2014/main" id="{931B4AEE-8722-F0FD-6604-B8F8F5DC3D38}"/>
                </a:ext>
              </a:extLst>
            </p:cNvPr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16">
              <a:extLst>
                <a:ext uri="{FF2B5EF4-FFF2-40B4-BE49-F238E27FC236}">
                  <a16:creationId xmlns:a16="http://schemas.microsoft.com/office/drawing/2014/main" id="{748BC67C-0F06-10EF-8448-13E5E483FAD4}"/>
                </a:ext>
              </a:extLst>
            </p:cNvPr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16">
              <a:extLst>
                <a:ext uri="{FF2B5EF4-FFF2-40B4-BE49-F238E27FC236}">
                  <a16:creationId xmlns:a16="http://schemas.microsoft.com/office/drawing/2014/main" id="{D1825F45-0876-7CF1-779D-E5AA6C63BB3B}"/>
                </a:ext>
              </a:extLst>
            </p:cNvPr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16">
              <a:extLst>
                <a:ext uri="{FF2B5EF4-FFF2-40B4-BE49-F238E27FC236}">
                  <a16:creationId xmlns:a16="http://schemas.microsoft.com/office/drawing/2014/main" id="{B85E1FEC-8068-0155-266A-A9E5A1F5DC67}"/>
                </a:ext>
              </a:extLst>
            </p:cNvPr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16">
              <a:extLst>
                <a:ext uri="{FF2B5EF4-FFF2-40B4-BE49-F238E27FC236}">
                  <a16:creationId xmlns:a16="http://schemas.microsoft.com/office/drawing/2014/main" id="{E2C7B82E-4299-3034-F71D-CD5A96B03163}"/>
                </a:ext>
              </a:extLst>
            </p:cNvPr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31" name="Google Shape;331;p16">
            <a:extLst>
              <a:ext uri="{FF2B5EF4-FFF2-40B4-BE49-F238E27FC236}">
                <a16:creationId xmlns:a16="http://schemas.microsoft.com/office/drawing/2014/main" id="{1C8A7EDD-0E02-5E14-82B3-37EF9FD64D9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475" y="242546"/>
            <a:ext cx="11296899" cy="9215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6">
            <a:extLst>
              <a:ext uri="{FF2B5EF4-FFF2-40B4-BE49-F238E27FC236}">
                <a16:creationId xmlns:a16="http://schemas.microsoft.com/office/drawing/2014/main" id="{13C4B788-AEAA-E3EB-A681-B9756224239D}"/>
              </a:ext>
            </a:extLst>
          </p:cNvPr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333" name="Google Shape;333;p16">
              <a:extLst>
                <a:ext uri="{FF2B5EF4-FFF2-40B4-BE49-F238E27FC236}">
                  <a16:creationId xmlns:a16="http://schemas.microsoft.com/office/drawing/2014/main" id="{2E233076-5750-A2EB-AC96-A8A3A7B2CA46}"/>
                </a:ext>
              </a:extLst>
            </p:cNvPr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34" name="Google Shape;334;p16">
              <a:extLst>
                <a:ext uri="{FF2B5EF4-FFF2-40B4-BE49-F238E27FC236}">
                  <a16:creationId xmlns:a16="http://schemas.microsoft.com/office/drawing/2014/main" id="{AC3B3231-80E2-E8B6-0484-A6A865FCF9E2}"/>
                </a:ext>
              </a:extLst>
            </p:cNvPr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6">
            <a:extLst>
              <a:ext uri="{FF2B5EF4-FFF2-40B4-BE49-F238E27FC236}">
                <a16:creationId xmlns:a16="http://schemas.microsoft.com/office/drawing/2014/main" id="{ACD9B95D-04A8-2F8C-2299-FC3253B5AC55}"/>
              </a:ext>
            </a:extLst>
          </p:cNvPr>
          <p:cNvSpPr txBox="1"/>
          <p:nvPr/>
        </p:nvSpPr>
        <p:spPr>
          <a:xfrm>
            <a:off x="331466" y="7282364"/>
            <a:ext cx="3231000" cy="34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08</a:t>
            </a:r>
            <a:endParaRPr dirty="0"/>
          </a:p>
        </p:txBody>
      </p:sp>
      <p:sp>
        <p:nvSpPr>
          <p:cNvPr id="336" name="Google Shape;336;p16">
            <a:extLst>
              <a:ext uri="{FF2B5EF4-FFF2-40B4-BE49-F238E27FC236}">
                <a16:creationId xmlns:a16="http://schemas.microsoft.com/office/drawing/2014/main" id="{13BE1474-2830-A5E2-B76F-4573319E5BEA}"/>
              </a:ext>
            </a:extLst>
          </p:cNvPr>
          <p:cNvSpPr txBox="1"/>
          <p:nvPr/>
        </p:nvSpPr>
        <p:spPr>
          <a:xfrm>
            <a:off x="4983412" y="8189030"/>
            <a:ext cx="12158176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Quiz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1F2B368-D1C4-AECB-FBBF-31A1D89D7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6204" y="1939589"/>
            <a:ext cx="2855418" cy="2855418"/>
          </a:xfrm>
          <a:prstGeom prst="rect">
            <a:avLst/>
          </a:prstGeom>
        </p:spPr>
      </p:pic>
      <p:grpSp>
        <p:nvGrpSpPr>
          <p:cNvPr id="4" name="Google Shape;202;p12">
            <a:extLst>
              <a:ext uri="{FF2B5EF4-FFF2-40B4-BE49-F238E27FC236}">
                <a16:creationId xmlns:a16="http://schemas.microsoft.com/office/drawing/2014/main" id="{8FEB5997-F737-D5D6-730F-8C924996431A}"/>
              </a:ext>
            </a:extLst>
          </p:cNvPr>
          <p:cNvGrpSpPr/>
          <p:nvPr/>
        </p:nvGrpSpPr>
        <p:grpSpPr>
          <a:xfrm>
            <a:off x="12699834" y="280869"/>
            <a:ext cx="5588166" cy="5653652"/>
            <a:chOff x="0" y="-9525"/>
            <a:chExt cx="812800" cy="822325"/>
          </a:xfrm>
        </p:grpSpPr>
        <p:sp>
          <p:nvSpPr>
            <p:cNvPr id="5" name="Google Shape;203;p12">
              <a:extLst>
                <a:ext uri="{FF2B5EF4-FFF2-40B4-BE49-F238E27FC236}">
                  <a16:creationId xmlns:a16="http://schemas.microsoft.com/office/drawing/2014/main" id="{B837EDE1-6F08-8FB7-B0FE-B087752A616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4;p12">
              <a:extLst>
                <a:ext uri="{FF2B5EF4-FFF2-40B4-BE49-F238E27FC236}">
                  <a16:creationId xmlns:a16="http://schemas.microsoft.com/office/drawing/2014/main" id="{9D3039D9-9464-036A-9787-79E2DF0DAC30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2009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758" y="623350"/>
            <a:ext cx="8788121" cy="90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24"/>
          <p:cNvSpPr txBox="1"/>
          <p:nvPr/>
        </p:nvSpPr>
        <p:spPr>
          <a:xfrm>
            <a:off x="11067410" y="1902288"/>
            <a:ext cx="6192000" cy="42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335" b="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THANK YOU</a:t>
            </a:r>
            <a:endParaRPr/>
          </a:p>
        </p:txBody>
      </p:sp>
      <p:sp>
        <p:nvSpPr>
          <p:cNvPr id="5" name="Google Shape;155;p9">
            <a:extLst>
              <a:ext uri="{FF2B5EF4-FFF2-40B4-BE49-F238E27FC236}">
                <a16:creationId xmlns:a16="http://schemas.microsoft.com/office/drawing/2014/main" id="{6F78C7D8-928E-CBB1-818C-2860842C30E4}"/>
              </a:ext>
            </a:extLst>
          </p:cNvPr>
          <p:cNvSpPr txBox="1"/>
          <p:nvPr/>
        </p:nvSpPr>
        <p:spPr>
          <a:xfrm>
            <a:off x="1028700" y="9747437"/>
            <a:ext cx="275173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Torsten Steinmüller</a:t>
            </a:r>
            <a:endParaRPr sz="24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6" name="Google Shape;155;p9">
            <a:extLst>
              <a:ext uri="{FF2B5EF4-FFF2-40B4-BE49-F238E27FC236}">
                <a16:creationId xmlns:a16="http://schemas.microsoft.com/office/drawing/2014/main" id="{4AE35383-4797-B4FD-5363-D3D515B78F3C}"/>
              </a:ext>
            </a:extLst>
          </p:cNvPr>
          <p:cNvSpPr txBox="1"/>
          <p:nvPr/>
        </p:nvSpPr>
        <p:spPr>
          <a:xfrm>
            <a:off x="13893421" y="9747436"/>
            <a:ext cx="378270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Kamal Badawi – 5236028</a:t>
            </a:r>
            <a:endParaRPr sz="24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7" name="Google Shape;155;p9">
            <a:extLst>
              <a:ext uri="{FF2B5EF4-FFF2-40B4-BE49-F238E27FC236}">
                <a16:creationId xmlns:a16="http://schemas.microsoft.com/office/drawing/2014/main" id="{29D9F4DC-799E-387D-021A-0F36784D847E}"/>
              </a:ext>
            </a:extLst>
          </p:cNvPr>
          <p:cNvSpPr txBox="1"/>
          <p:nvPr/>
        </p:nvSpPr>
        <p:spPr>
          <a:xfrm>
            <a:off x="7252648" y="9747435"/>
            <a:ext cx="378270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26. Januar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324">
          <a:extLst>
            <a:ext uri="{FF2B5EF4-FFF2-40B4-BE49-F238E27FC236}">
              <a16:creationId xmlns:a16="http://schemas.microsoft.com/office/drawing/2014/main" id="{2F6ECF75-D6E3-B9B2-FD53-9FED0819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199;p12">
            <a:extLst>
              <a:ext uri="{FF2B5EF4-FFF2-40B4-BE49-F238E27FC236}">
                <a16:creationId xmlns:a16="http://schemas.microsoft.com/office/drawing/2014/main" id="{BFC8B04C-948B-F160-3457-17C5CC1A7193}"/>
              </a:ext>
            </a:extLst>
          </p:cNvPr>
          <p:cNvGrpSpPr/>
          <p:nvPr/>
        </p:nvGrpSpPr>
        <p:grpSpPr>
          <a:xfrm>
            <a:off x="12699830" y="701670"/>
            <a:ext cx="5588166" cy="5653652"/>
            <a:chOff x="0" y="-9525"/>
            <a:chExt cx="812800" cy="822325"/>
          </a:xfrm>
        </p:grpSpPr>
        <p:sp>
          <p:nvSpPr>
            <p:cNvPr id="8" name="Google Shape;200;p12">
              <a:extLst>
                <a:ext uri="{FF2B5EF4-FFF2-40B4-BE49-F238E27FC236}">
                  <a16:creationId xmlns:a16="http://schemas.microsoft.com/office/drawing/2014/main" id="{13347E05-606C-B994-D3C2-9F69F7DED74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1;p12">
              <a:extLst>
                <a:ext uri="{FF2B5EF4-FFF2-40B4-BE49-F238E27FC236}">
                  <a16:creationId xmlns:a16="http://schemas.microsoft.com/office/drawing/2014/main" id="{F60BCF96-20DC-AF81-D286-21F1CB8B1210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6">
            <a:extLst>
              <a:ext uri="{FF2B5EF4-FFF2-40B4-BE49-F238E27FC236}">
                <a16:creationId xmlns:a16="http://schemas.microsoft.com/office/drawing/2014/main" id="{8866C4E6-5AF1-C8D5-33E1-53DBDEDAA1F7}"/>
              </a:ext>
            </a:extLst>
          </p:cNvPr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26" name="Google Shape;326;p16">
              <a:extLst>
                <a:ext uri="{FF2B5EF4-FFF2-40B4-BE49-F238E27FC236}">
                  <a16:creationId xmlns:a16="http://schemas.microsoft.com/office/drawing/2014/main" id="{BC7006AA-54AE-6884-556C-396B78D0748E}"/>
                </a:ext>
              </a:extLst>
            </p:cNvPr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16">
              <a:extLst>
                <a:ext uri="{FF2B5EF4-FFF2-40B4-BE49-F238E27FC236}">
                  <a16:creationId xmlns:a16="http://schemas.microsoft.com/office/drawing/2014/main" id="{C5782A16-5FE3-A59B-658C-BCAD2CFD20B8}"/>
                </a:ext>
              </a:extLst>
            </p:cNvPr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16">
              <a:extLst>
                <a:ext uri="{FF2B5EF4-FFF2-40B4-BE49-F238E27FC236}">
                  <a16:creationId xmlns:a16="http://schemas.microsoft.com/office/drawing/2014/main" id="{CD080FC3-27A9-62EB-9C16-77F3D00B7433}"/>
                </a:ext>
              </a:extLst>
            </p:cNvPr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16">
              <a:extLst>
                <a:ext uri="{FF2B5EF4-FFF2-40B4-BE49-F238E27FC236}">
                  <a16:creationId xmlns:a16="http://schemas.microsoft.com/office/drawing/2014/main" id="{8EBB40E1-3E66-1CA7-F8B2-C176FE3C4397}"/>
                </a:ext>
              </a:extLst>
            </p:cNvPr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16">
              <a:extLst>
                <a:ext uri="{FF2B5EF4-FFF2-40B4-BE49-F238E27FC236}">
                  <a16:creationId xmlns:a16="http://schemas.microsoft.com/office/drawing/2014/main" id="{B031DE35-4DCB-A861-64F0-D954BF6EB505}"/>
                </a:ext>
              </a:extLst>
            </p:cNvPr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31" name="Google Shape;331;p16">
            <a:extLst>
              <a:ext uri="{FF2B5EF4-FFF2-40B4-BE49-F238E27FC236}">
                <a16:creationId xmlns:a16="http://schemas.microsoft.com/office/drawing/2014/main" id="{6ED082B9-52CE-4549-95BA-4DC0951856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475" y="242546"/>
            <a:ext cx="11296899" cy="9215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6">
            <a:extLst>
              <a:ext uri="{FF2B5EF4-FFF2-40B4-BE49-F238E27FC236}">
                <a16:creationId xmlns:a16="http://schemas.microsoft.com/office/drawing/2014/main" id="{E94F0145-CC4F-DEB6-383F-54AF1EFF890A}"/>
              </a:ext>
            </a:extLst>
          </p:cNvPr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333" name="Google Shape;333;p16">
              <a:extLst>
                <a:ext uri="{FF2B5EF4-FFF2-40B4-BE49-F238E27FC236}">
                  <a16:creationId xmlns:a16="http://schemas.microsoft.com/office/drawing/2014/main" id="{AEAF0877-6989-8B37-0847-EE7F7692E6EB}"/>
                </a:ext>
              </a:extLst>
            </p:cNvPr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34" name="Google Shape;334;p16">
              <a:extLst>
                <a:ext uri="{FF2B5EF4-FFF2-40B4-BE49-F238E27FC236}">
                  <a16:creationId xmlns:a16="http://schemas.microsoft.com/office/drawing/2014/main" id="{5854E8D8-DEDE-E026-AE1E-2F93E4A658DE}"/>
                </a:ext>
              </a:extLst>
            </p:cNvPr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6">
            <a:extLst>
              <a:ext uri="{FF2B5EF4-FFF2-40B4-BE49-F238E27FC236}">
                <a16:creationId xmlns:a16="http://schemas.microsoft.com/office/drawing/2014/main" id="{58C10922-250E-3FCE-B09F-07C126DBD6E1}"/>
              </a:ext>
            </a:extLst>
          </p:cNvPr>
          <p:cNvSpPr txBox="1"/>
          <p:nvPr/>
        </p:nvSpPr>
        <p:spPr>
          <a:xfrm>
            <a:off x="4983412" y="8189030"/>
            <a:ext cx="12158176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GitHub</a:t>
            </a:r>
          </a:p>
        </p:txBody>
      </p:sp>
      <p:pic>
        <p:nvPicPr>
          <p:cNvPr id="3" name="Grafik 2" descr="Ein Bild, das Kreis, Muster, Schwarzweiß, Design enthält.&#10;&#10;KI-generierte Inhalte können fehlerhaft sein.">
            <a:extLst>
              <a:ext uri="{FF2B5EF4-FFF2-40B4-BE49-F238E27FC236}">
                <a16:creationId xmlns:a16="http://schemas.microsoft.com/office/drawing/2014/main" id="{7BC6349C-39A4-C2FD-859B-7426F058E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4884" y="1830588"/>
            <a:ext cx="3458058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10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654</Words>
  <Application>Microsoft Office PowerPoint</Application>
  <PresentationFormat>Benutzerdefiniert</PresentationFormat>
  <Paragraphs>189</Paragraphs>
  <Slides>28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3" baseType="lpstr">
      <vt:lpstr>Rajdhani</vt:lpstr>
      <vt:lpstr>Calibri</vt:lpstr>
      <vt:lpstr>Arial</vt:lpstr>
      <vt:lpstr>Lato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Kamal Badawi</dc:creator>
  <cp:lastModifiedBy>Kamal Badawi</cp:lastModifiedBy>
  <cp:revision>146</cp:revision>
  <dcterms:modified xsi:type="dcterms:W3CDTF">2025-12-26T08:43:20Z</dcterms:modified>
</cp:coreProperties>
</file>